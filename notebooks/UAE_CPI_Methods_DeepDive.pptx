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0" y="0"/>
            <a:ext cx="9144000" cy="27432"/>
          </a:xfrm>
          <a:prstGeom prst="rect">
            <a:avLst/>
          </a:prstGeom>
          <a:solidFill>
            <a:srgbClr val="22D3EE"/>
          </a:solidFill>
          <a:ln/>
        </p:spPr>
      </p:sp>
      <p:sp>
        <p:nvSpPr>
          <p:cNvPr id="3" name="Text 1"/>
          <p:cNvSpPr/>
          <p:nvPr/>
        </p:nvSpPr>
        <p:spPr>
          <a:xfrm>
            <a:off x="457200" y="1371600"/>
            <a:ext cx="8229600" cy="731520"/>
          </a:xfrm>
          <a:prstGeom prst="rect">
            <a:avLst/>
          </a:prstGeom>
          <a:noFill/>
          <a:ln/>
        </p:spPr>
        <p:txBody>
          <a:bodyPr wrap="square" rtlCol="0" anchor="ctr"/>
          <a:lstStyle/>
          <a:p>
            <a:pPr indent="0" marL="0">
              <a:buNone/>
            </a:pPr>
            <a:r>
              <a:rPr lang="en-US" sz="3600" b="1" dirty="0">
                <a:solidFill>
                  <a:srgbClr val="22D3EE"/>
                </a:solidFill>
                <a:latin typeface="Georgia" pitchFamily="34" charset="0"/>
                <a:ea typeface="Georgia" pitchFamily="34" charset="-122"/>
                <a:cs typeface="Georgia" pitchFamily="34" charset="-120"/>
              </a:rPr>
              <a:t>Data Science Methods</a:t>
            </a:r>
            <a:endParaRPr lang="en-US" sz="3600" dirty="0"/>
          </a:p>
        </p:txBody>
      </p:sp>
      <p:sp>
        <p:nvSpPr>
          <p:cNvPr id="4" name="Text 2"/>
          <p:cNvSpPr/>
          <p:nvPr/>
        </p:nvSpPr>
        <p:spPr>
          <a:xfrm>
            <a:off x="457200" y="2103120"/>
            <a:ext cx="8229600" cy="365760"/>
          </a:xfrm>
          <a:prstGeom prst="rect">
            <a:avLst/>
          </a:prstGeom>
          <a:noFill/>
          <a:ln/>
        </p:spPr>
        <p:txBody>
          <a:bodyPr wrap="square" rtlCol="0" anchor="ctr"/>
          <a:lstStyle/>
          <a:p>
            <a:pPr indent="0" marL="0">
              <a:buNone/>
            </a:pPr>
            <a:r>
              <a:rPr lang="en-US" sz="1800" dirty="0">
                <a:solidFill>
                  <a:srgbClr val="E2E8F0"/>
                </a:solidFill>
                <a:latin typeface="Arial" pitchFamily="34" charset="0"/>
                <a:ea typeface="Arial" pitchFamily="34" charset="-122"/>
                <a:cs typeface="Arial" pitchFamily="34" charset="-120"/>
              </a:rPr>
              <a:t>Deep Dive — UAE CPI Analysis</a:t>
            </a:r>
            <a:endParaRPr lang="en-US" sz="1800" dirty="0"/>
          </a:p>
        </p:txBody>
      </p:sp>
      <p:sp>
        <p:nvSpPr>
          <p:cNvPr id="5" name="Text 3"/>
          <p:cNvSpPr/>
          <p:nvPr/>
        </p:nvSpPr>
        <p:spPr>
          <a:xfrm>
            <a:off x="457200" y="2743200"/>
            <a:ext cx="8229600" cy="274320"/>
          </a:xfrm>
          <a:prstGeom prst="rect">
            <a:avLst/>
          </a:prstGeom>
          <a:noFill/>
          <a:ln/>
        </p:spPr>
        <p:txBody>
          <a:bodyPr wrap="square" rtlCol="0" anchor="ctr"/>
          <a:lstStyle/>
          <a:p>
            <a:pPr indent="0" marL="0">
              <a:buNone/>
            </a:pPr>
            <a:r>
              <a:rPr lang="en-US" sz="1200" dirty="0">
                <a:solidFill>
                  <a:srgbClr val="8896AB"/>
                </a:solidFill>
                <a:latin typeface="Arial" pitchFamily="34" charset="0"/>
                <a:ea typeface="Arial" pitchFamily="34" charset="-122"/>
                <a:cs typeface="Arial" pitchFamily="34" charset="-120"/>
              </a:rPr>
              <a:t>8 Methods • What / Why / How / So What</a:t>
            </a:r>
            <a:endParaRPr lang="en-US" sz="1200" dirty="0"/>
          </a:p>
        </p:txBody>
      </p:sp>
      <p:sp>
        <p:nvSpPr>
          <p:cNvPr id="6" name="Shape 4"/>
          <p:cNvSpPr/>
          <p:nvPr/>
        </p:nvSpPr>
        <p:spPr>
          <a:xfrm>
            <a:off x="457200" y="3383280"/>
            <a:ext cx="1920240" cy="640080"/>
          </a:xfrm>
          <a:prstGeom prst="roundRect">
            <a:avLst>
              <a:gd name="adj" fmla="val 7143"/>
            </a:avLst>
          </a:prstGeom>
          <a:solidFill>
            <a:srgbClr val="151E2D"/>
          </a:solidFill>
          <a:ln w="12700">
            <a:solidFill>
              <a:srgbClr val="F87171"/>
            </a:solidFill>
            <a:prstDash val="solid"/>
          </a:ln>
        </p:spPr>
      </p:sp>
      <p:sp>
        <p:nvSpPr>
          <p:cNvPr id="7" name="Text 5"/>
          <p:cNvSpPr/>
          <p:nvPr/>
        </p:nvSpPr>
        <p:spPr>
          <a:xfrm>
            <a:off x="457200" y="3383280"/>
            <a:ext cx="320040" cy="640080"/>
          </a:xfrm>
          <a:prstGeom prst="rect">
            <a:avLst/>
          </a:prstGeom>
          <a:noFill/>
          <a:ln/>
        </p:spPr>
        <p:txBody>
          <a:bodyPr wrap="square" rtlCol="0" anchor="ctr"/>
          <a:lstStyle/>
          <a:p>
            <a:pPr algn="ctr" indent="0" marL="0">
              <a:buNone/>
            </a:pPr>
            <a:r>
              <a:rPr lang="en-US" sz="1400" b="1" dirty="0">
                <a:solidFill>
                  <a:srgbClr val="F87171"/>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777240" y="3383280"/>
            <a:ext cx="1417320" cy="365760"/>
          </a:xfrm>
          <a:prstGeom prst="rect">
            <a:avLst/>
          </a:prstGeom>
          <a:noFill/>
          <a:ln/>
        </p:spPr>
        <p:txBody>
          <a:bodyPr wrap="square" rtlCol="0" anchor="b"/>
          <a:lstStyle/>
          <a:p>
            <a:pPr indent="0" marL="0">
              <a:buNone/>
            </a:pPr>
            <a:r>
              <a:rPr lang="en-US" sz="900" b="1" dirty="0">
                <a:solidFill>
                  <a:srgbClr val="FFFFFF"/>
                </a:solidFill>
                <a:latin typeface="Arial" pitchFamily="34" charset="0"/>
                <a:ea typeface="Arial" pitchFamily="34" charset="-122"/>
                <a:cs typeface="Arial" pitchFamily="34" charset="-120"/>
              </a:rPr>
              <a:t>Weight Estimation</a:t>
            </a:r>
            <a:endParaRPr lang="en-US" sz="900" dirty="0"/>
          </a:p>
        </p:txBody>
      </p:sp>
      <p:sp>
        <p:nvSpPr>
          <p:cNvPr id="9" name="Text 7"/>
          <p:cNvSpPr/>
          <p:nvPr/>
        </p:nvSpPr>
        <p:spPr>
          <a:xfrm>
            <a:off x="777240" y="3730752"/>
            <a:ext cx="1417320" cy="228600"/>
          </a:xfrm>
          <a:prstGeom prst="rect">
            <a:avLst/>
          </a:prstGeom>
          <a:noFill/>
          <a:ln/>
        </p:spPr>
        <p:txBody>
          <a:bodyPr wrap="square" rtlCol="0" anchor="ctr"/>
          <a:lstStyle/>
          <a:p>
            <a:pPr indent="0" marL="0">
              <a:buNone/>
            </a:pPr>
            <a:r>
              <a:rPr lang="en-US" sz="700" dirty="0">
                <a:solidFill>
                  <a:srgbClr val="8896AB"/>
                </a:solidFill>
                <a:latin typeface="Consolas" pitchFamily="34" charset="0"/>
                <a:ea typeface="Consolas" pitchFamily="34" charset="-122"/>
                <a:cs typeface="Consolas" pitchFamily="34" charset="-120"/>
              </a:rPr>
              <a:t>scipy.optimize</a:t>
            </a:r>
            <a:endParaRPr lang="en-US" sz="700" dirty="0"/>
          </a:p>
        </p:txBody>
      </p:sp>
      <p:sp>
        <p:nvSpPr>
          <p:cNvPr id="10" name="Shape 8"/>
          <p:cNvSpPr/>
          <p:nvPr/>
        </p:nvSpPr>
        <p:spPr>
          <a:xfrm>
            <a:off x="2560320" y="3383280"/>
            <a:ext cx="1920240" cy="640080"/>
          </a:xfrm>
          <a:prstGeom prst="roundRect">
            <a:avLst>
              <a:gd name="adj" fmla="val 7143"/>
            </a:avLst>
          </a:prstGeom>
          <a:solidFill>
            <a:srgbClr val="151E2D"/>
          </a:solidFill>
          <a:ln w="12700">
            <a:solidFill>
              <a:srgbClr val="FBBF24"/>
            </a:solidFill>
            <a:prstDash val="solid"/>
          </a:ln>
        </p:spPr>
      </p:sp>
      <p:sp>
        <p:nvSpPr>
          <p:cNvPr id="11" name="Text 9"/>
          <p:cNvSpPr/>
          <p:nvPr/>
        </p:nvSpPr>
        <p:spPr>
          <a:xfrm>
            <a:off x="2560320" y="3383280"/>
            <a:ext cx="320040" cy="640080"/>
          </a:xfrm>
          <a:prstGeom prst="rect">
            <a:avLst/>
          </a:prstGeom>
          <a:noFill/>
          <a:ln/>
        </p:spPr>
        <p:txBody>
          <a:bodyPr wrap="square" rtlCol="0" anchor="ctr"/>
          <a:lstStyle/>
          <a:p>
            <a:pPr algn="ctr" indent="0" marL="0">
              <a:buNone/>
            </a:pPr>
            <a:r>
              <a:rPr lang="en-US" sz="1400" b="1" dirty="0">
                <a:solidFill>
                  <a:srgbClr val="FBBF24"/>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2880360" y="3383280"/>
            <a:ext cx="1417320" cy="365760"/>
          </a:xfrm>
          <a:prstGeom prst="rect">
            <a:avLst/>
          </a:prstGeom>
          <a:noFill/>
          <a:ln/>
        </p:spPr>
        <p:txBody>
          <a:bodyPr wrap="square" rtlCol="0" anchor="b"/>
          <a:lstStyle/>
          <a:p>
            <a:pPr indent="0" marL="0">
              <a:buNone/>
            </a:pPr>
            <a:r>
              <a:rPr lang="en-US" sz="900" b="1" dirty="0">
                <a:solidFill>
                  <a:srgbClr val="FFFFFF"/>
                </a:solidFill>
                <a:latin typeface="Arial" pitchFamily="34" charset="0"/>
                <a:ea typeface="Arial" pitchFamily="34" charset="-122"/>
                <a:cs typeface="Arial" pitchFamily="34" charset="-120"/>
              </a:rPr>
              <a:t>STL Decomposition</a:t>
            </a:r>
            <a:endParaRPr lang="en-US" sz="900" dirty="0"/>
          </a:p>
        </p:txBody>
      </p:sp>
      <p:sp>
        <p:nvSpPr>
          <p:cNvPr id="13" name="Text 11"/>
          <p:cNvSpPr/>
          <p:nvPr/>
        </p:nvSpPr>
        <p:spPr>
          <a:xfrm>
            <a:off x="2880360" y="3730752"/>
            <a:ext cx="1417320" cy="228600"/>
          </a:xfrm>
          <a:prstGeom prst="rect">
            <a:avLst/>
          </a:prstGeom>
          <a:noFill/>
          <a:ln/>
        </p:spPr>
        <p:txBody>
          <a:bodyPr wrap="square" rtlCol="0" anchor="ctr"/>
          <a:lstStyle/>
          <a:p>
            <a:pPr indent="0" marL="0">
              <a:buNone/>
            </a:pPr>
            <a:r>
              <a:rPr lang="en-US" sz="700" dirty="0">
                <a:solidFill>
                  <a:srgbClr val="8896AB"/>
                </a:solidFill>
                <a:latin typeface="Consolas" pitchFamily="34" charset="0"/>
                <a:ea typeface="Consolas" pitchFamily="34" charset="-122"/>
                <a:cs typeface="Consolas" pitchFamily="34" charset="-120"/>
              </a:rPr>
              <a:t>statsmodels</a:t>
            </a:r>
            <a:endParaRPr lang="en-US" sz="700" dirty="0"/>
          </a:p>
        </p:txBody>
      </p:sp>
      <p:sp>
        <p:nvSpPr>
          <p:cNvPr id="14" name="Shape 12"/>
          <p:cNvSpPr/>
          <p:nvPr/>
        </p:nvSpPr>
        <p:spPr>
          <a:xfrm>
            <a:off x="4663440" y="3383280"/>
            <a:ext cx="1920240" cy="640080"/>
          </a:xfrm>
          <a:prstGeom prst="roundRect">
            <a:avLst>
              <a:gd name="adj" fmla="val 7143"/>
            </a:avLst>
          </a:prstGeom>
          <a:solidFill>
            <a:srgbClr val="151E2D"/>
          </a:solidFill>
          <a:ln w="12700">
            <a:solidFill>
              <a:srgbClr val="A78BFA"/>
            </a:solidFill>
            <a:prstDash val="solid"/>
          </a:ln>
        </p:spPr>
      </p:sp>
      <p:sp>
        <p:nvSpPr>
          <p:cNvPr id="15" name="Text 13"/>
          <p:cNvSpPr/>
          <p:nvPr/>
        </p:nvSpPr>
        <p:spPr>
          <a:xfrm>
            <a:off x="4663440" y="3383280"/>
            <a:ext cx="320040" cy="640080"/>
          </a:xfrm>
          <a:prstGeom prst="rect">
            <a:avLst/>
          </a:prstGeom>
          <a:noFill/>
          <a:ln/>
        </p:spPr>
        <p:txBody>
          <a:bodyPr wrap="square" rtlCol="0" anchor="ctr"/>
          <a:lstStyle/>
          <a:p>
            <a:pPr algn="ctr" indent="0" marL="0">
              <a:buNone/>
            </a:pPr>
            <a:r>
              <a:rPr lang="en-US" sz="1400" b="1" dirty="0">
                <a:solidFill>
                  <a:srgbClr val="A78BFA"/>
                </a:solidFill>
                <a:latin typeface="Arial" pitchFamily="34" charset="0"/>
                <a:ea typeface="Arial" pitchFamily="34" charset="-122"/>
                <a:cs typeface="Arial" pitchFamily="34" charset="-120"/>
              </a:rPr>
              <a:t>3</a:t>
            </a:r>
            <a:endParaRPr lang="en-US" sz="1400" dirty="0"/>
          </a:p>
        </p:txBody>
      </p:sp>
      <p:sp>
        <p:nvSpPr>
          <p:cNvPr id="16" name="Text 14"/>
          <p:cNvSpPr/>
          <p:nvPr/>
        </p:nvSpPr>
        <p:spPr>
          <a:xfrm>
            <a:off x="4983480" y="3383280"/>
            <a:ext cx="1417320" cy="365760"/>
          </a:xfrm>
          <a:prstGeom prst="rect">
            <a:avLst/>
          </a:prstGeom>
          <a:noFill/>
          <a:ln/>
        </p:spPr>
        <p:txBody>
          <a:bodyPr wrap="square" rtlCol="0" anchor="b"/>
          <a:lstStyle/>
          <a:p>
            <a:pPr indent="0" marL="0">
              <a:buNone/>
            </a:pPr>
            <a:r>
              <a:rPr lang="en-US" sz="900" b="1" dirty="0">
                <a:solidFill>
                  <a:srgbClr val="FFFFFF"/>
                </a:solidFill>
                <a:latin typeface="Arial" pitchFamily="34" charset="0"/>
                <a:ea typeface="Arial" pitchFamily="34" charset="-122"/>
                <a:cs typeface="Arial" pitchFamily="34" charset="-120"/>
              </a:rPr>
              <a:t>Granger Causality</a:t>
            </a:r>
            <a:endParaRPr lang="en-US" sz="900" dirty="0"/>
          </a:p>
        </p:txBody>
      </p:sp>
      <p:sp>
        <p:nvSpPr>
          <p:cNvPr id="17" name="Text 15"/>
          <p:cNvSpPr/>
          <p:nvPr/>
        </p:nvSpPr>
        <p:spPr>
          <a:xfrm>
            <a:off x="4983480" y="3730752"/>
            <a:ext cx="1417320" cy="228600"/>
          </a:xfrm>
          <a:prstGeom prst="rect">
            <a:avLst/>
          </a:prstGeom>
          <a:noFill/>
          <a:ln/>
        </p:spPr>
        <p:txBody>
          <a:bodyPr wrap="square" rtlCol="0" anchor="ctr"/>
          <a:lstStyle/>
          <a:p>
            <a:pPr indent="0" marL="0">
              <a:buNone/>
            </a:pPr>
            <a:r>
              <a:rPr lang="en-US" sz="700" dirty="0">
                <a:solidFill>
                  <a:srgbClr val="8896AB"/>
                </a:solidFill>
                <a:latin typeface="Consolas" pitchFamily="34" charset="0"/>
                <a:ea typeface="Consolas" pitchFamily="34" charset="-122"/>
                <a:cs typeface="Consolas" pitchFamily="34" charset="-120"/>
              </a:rPr>
              <a:t>statsmodels</a:t>
            </a:r>
            <a:endParaRPr lang="en-US" sz="700" dirty="0"/>
          </a:p>
        </p:txBody>
      </p:sp>
      <p:sp>
        <p:nvSpPr>
          <p:cNvPr id="18" name="Shape 16"/>
          <p:cNvSpPr/>
          <p:nvPr/>
        </p:nvSpPr>
        <p:spPr>
          <a:xfrm>
            <a:off x="6766560" y="3383280"/>
            <a:ext cx="1920240" cy="640080"/>
          </a:xfrm>
          <a:prstGeom prst="roundRect">
            <a:avLst>
              <a:gd name="adj" fmla="val 7143"/>
            </a:avLst>
          </a:prstGeom>
          <a:solidFill>
            <a:srgbClr val="151E2D"/>
          </a:solidFill>
          <a:ln w="12700">
            <a:solidFill>
              <a:srgbClr val="4ADE80"/>
            </a:solidFill>
            <a:prstDash val="solid"/>
          </a:ln>
        </p:spPr>
      </p:sp>
      <p:sp>
        <p:nvSpPr>
          <p:cNvPr id="19" name="Text 17"/>
          <p:cNvSpPr/>
          <p:nvPr/>
        </p:nvSpPr>
        <p:spPr>
          <a:xfrm>
            <a:off x="6766560" y="3383280"/>
            <a:ext cx="320040" cy="640080"/>
          </a:xfrm>
          <a:prstGeom prst="rect">
            <a:avLst/>
          </a:prstGeom>
          <a:noFill/>
          <a:ln/>
        </p:spPr>
        <p:txBody>
          <a:bodyPr wrap="square" rtlCol="0" anchor="ctr"/>
          <a:lstStyle/>
          <a:p>
            <a:pPr algn="ctr" indent="0" marL="0">
              <a:buNone/>
            </a:pPr>
            <a:r>
              <a:rPr lang="en-US" sz="1400" b="1" dirty="0">
                <a:solidFill>
                  <a:srgbClr val="4ADE80"/>
                </a:solidFill>
                <a:latin typeface="Arial" pitchFamily="34" charset="0"/>
                <a:ea typeface="Arial" pitchFamily="34" charset="-122"/>
                <a:cs typeface="Arial" pitchFamily="34" charset="-120"/>
              </a:rPr>
              <a:t>4</a:t>
            </a:r>
            <a:endParaRPr lang="en-US" sz="1400" dirty="0"/>
          </a:p>
        </p:txBody>
      </p:sp>
      <p:sp>
        <p:nvSpPr>
          <p:cNvPr id="20" name="Text 18"/>
          <p:cNvSpPr/>
          <p:nvPr/>
        </p:nvSpPr>
        <p:spPr>
          <a:xfrm>
            <a:off x="7086600" y="3383280"/>
            <a:ext cx="1417320" cy="365760"/>
          </a:xfrm>
          <a:prstGeom prst="rect">
            <a:avLst/>
          </a:prstGeom>
          <a:noFill/>
          <a:ln/>
        </p:spPr>
        <p:txBody>
          <a:bodyPr wrap="square" rtlCol="0" anchor="b"/>
          <a:lstStyle/>
          <a:p>
            <a:pPr indent="0" marL="0">
              <a:buNone/>
            </a:pPr>
            <a:r>
              <a:rPr lang="en-US" sz="900" b="1" dirty="0">
                <a:solidFill>
                  <a:srgbClr val="FFFFFF"/>
                </a:solidFill>
                <a:latin typeface="Arial" pitchFamily="34" charset="0"/>
                <a:ea typeface="Arial" pitchFamily="34" charset="-122"/>
                <a:cs typeface="Arial" pitchFamily="34" charset="-120"/>
              </a:rPr>
              <a:t>HDBSCAN Clustering</a:t>
            </a:r>
            <a:endParaRPr lang="en-US" sz="900" dirty="0"/>
          </a:p>
        </p:txBody>
      </p:sp>
      <p:sp>
        <p:nvSpPr>
          <p:cNvPr id="21" name="Text 19"/>
          <p:cNvSpPr/>
          <p:nvPr/>
        </p:nvSpPr>
        <p:spPr>
          <a:xfrm>
            <a:off x="7086600" y="3730752"/>
            <a:ext cx="1417320" cy="228600"/>
          </a:xfrm>
          <a:prstGeom prst="rect">
            <a:avLst/>
          </a:prstGeom>
          <a:noFill/>
          <a:ln/>
        </p:spPr>
        <p:txBody>
          <a:bodyPr wrap="square" rtlCol="0" anchor="ctr"/>
          <a:lstStyle/>
          <a:p>
            <a:pPr indent="0" marL="0">
              <a:buNone/>
            </a:pPr>
            <a:r>
              <a:rPr lang="en-US" sz="700" dirty="0">
                <a:solidFill>
                  <a:srgbClr val="8896AB"/>
                </a:solidFill>
                <a:latin typeface="Consolas" pitchFamily="34" charset="0"/>
                <a:ea typeface="Consolas" pitchFamily="34" charset="-122"/>
                <a:cs typeface="Consolas" pitchFamily="34" charset="-120"/>
              </a:rPr>
              <a:t>hdbscan</a:t>
            </a:r>
            <a:endParaRPr lang="en-US" sz="700" dirty="0"/>
          </a:p>
        </p:txBody>
      </p:sp>
      <p:sp>
        <p:nvSpPr>
          <p:cNvPr id="22" name="Shape 20"/>
          <p:cNvSpPr/>
          <p:nvPr/>
        </p:nvSpPr>
        <p:spPr>
          <a:xfrm>
            <a:off x="457200" y="4160520"/>
            <a:ext cx="1920240" cy="640080"/>
          </a:xfrm>
          <a:prstGeom prst="roundRect">
            <a:avLst>
              <a:gd name="adj" fmla="val 7143"/>
            </a:avLst>
          </a:prstGeom>
          <a:solidFill>
            <a:srgbClr val="151E2D"/>
          </a:solidFill>
          <a:ln w="12700">
            <a:solidFill>
              <a:srgbClr val="22D3EE"/>
            </a:solidFill>
            <a:prstDash val="solid"/>
          </a:ln>
        </p:spPr>
      </p:sp>
      <p:sp>
        <p:nvSpPr>
          <p:cNvPr id="23" name="Text 21"/>
          <p:cNvSpPr/>
          <p:nvPr/>
        </p:nvSpPr>
        <p:spPr>
          <a:xfrm>
            <a:off x="457200" y="4160520"/>
            <a:ext cx="320040" cy="640080"/>
          </a:xfrm>
          <a:prstGeom prst="rect">
            <a:avLst/>
          </a:prstGeom>
          <a:noFill/>
          <a:ln/>
        </p:spPr>
        <p:txBody>
          <a:bodyPr wrap="square"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5</a:t>
            </a:r>
            <a:endParaRPr lang="en-US" sz="1400" dirty="0"/>
          </a:p>
        </p:txBody>
      </p:sp>
      <p:sp>
        <p:nvSpPr>
          <p:cNvPr id="24" name="Text 22"/>
          <p:cNvSpPr/>
          <p:nvPr/>
        </p:nvSpPr>
        <p:spPr>
          <a:xfrm>
            <a:off x="777240" y="4160520"/>
            <a:ext cx="1417320" cy="365760"/>
          </a:xfrm>
          <a:prstGeom prst="rect">
            <a:avLst/>
          </a:prstGeom>
          <a:noFill/>
          <a:ln/>
        </p:spPr>
        <p:txBody>
          <a:bodyPr wrap="square" rtlCol="0" anchor="b"/>
          <a:lstStyle/>
          <a:p>
            <a:pPr indent="0" marL="0">
              <a:buNone/>
            </a:pPr>
            <a:r>
              <a:rPr lang="en-US" sz="900" b="1" dirty="0">
                <a:solidFill>
                  <a:srgbClr val="FFFFFF"/>
                </a:solidFill>
                <a:latin typeface="Arial" pitchFamily="34" charset="0"/>
                <a:ea typeface="Arial" pitchFamily="34" charset="-122"/>
                <a:cs typeface="Arial" pitchFamily="34" charset="-120"/>
              </a:rPr>
              <a:t>UMAP Projection</a:t>
            </a:r>
            <a:endParaRPr lang="en-US" sz="900" dirty="0"/>
          </a:p>
        </p:txBody>
      </p:sp>
      <p:sp>
        <p:nvSpPr>
          <p:cNvPr id="25" name="Text 23"/>
          <p:cNvSpPr/>
          <p:nvPr/>
        </p:nvSpPr>
        <p:spPr>
          <a:xfrm>
            <a:off x="777240" y="4507992"/>
            <a:ext cx="1417320" cy="228600"/>
          </a:xfrm>
          <a:prstGeom prst="rect">
            <a:avLst/>
          </a:prstGeom>
          <a:noFill/>
          <a:ln/>
        </p:spPr>
        <p:txBody>
          <a:bodyPr wrap="square" rtlCol="0" anchor="ctr"/>
          <a:lstStyle/>
          <a:p>
            <a:pPr indent="0" marL="0">
              <a:buNone/>
            </a:pPr>
            <a:r>
              <a:rPr lang="en-US" sz="700" dirty="0">
                <a:solidFill>
                  <a:srgbClr val="8896AB"/>
                </a:solidFill>
                <a:latin typeface="Consolas" pitchFamily="34" charset="0"/>
                <a:ea typeface="Consolas" pitchFamily="34" charset="-122"/>
                <a:cs typeface="Consolas" pitchFamily="34" charset="-120"/>
              </a:rPr>
              <a:t>umap-learn</a:t>
            </a:r>
            <a:endParaRPr lang="en-US" sz="700" dirty="0"/>
          </a:p>
        </p:txBody>
      </p:sp>
      <p:sp>
        <p:nvSpPr>
          <p:cNvPr id="26" name="Shape 24"/>
          <p:cNvSpPr/>
          <p:nvPr/>
        </p:nvSpPr>
        <p:spPr>
          <a:xfrm>
            <a:off x="2560320" y="4160520"/>
            <a:ext cx="1920240" cy="640080"/>
          </a:xfrm>
          <a:prstGeom prst="roundRect">
            <a:avLst>
              <a:gd name="adj" fmla="val 7143"/>
            </a:avLst>
          </a:prstGeom>
          <a:solidFill>
            <a:srgbClr val="151E2D"/>
          </a:solidFill>
          <a:ln w="12700">
            <a:solidFill>
              <a:srgbClr val="FB923C"/>
            </a:solidFill>
            <a:prstDash val="solid"/>
          </a:ln>
        </p:spPr>
      </p:sp>
      <p:sp>
        <p:nvSpPr>
          <p:cNvPr id="27" name="Text 25"/>
          <p:cNvSpPr/>
          <p:nvPr/>
        </p:nvSpPr>
        <p:spPr>
          <a:xfrm>
            <a:off x="2560320" y="4160520"/>
            <a:ext cx="320040" cy="640080"/>
          </a:xfrm>
          <a:prstGeom prst="rect">
            <a:avLst/>
          </a:prstGeom>
          <a:noFill/>
          <a:ln/>
        </p:spPr>
        <p:txBody>
          <a:bodyPr wrap="square" rtlCol="0" anchor="ctr"/>
          <a:lstStyle/>
          <a:p>
            <a:pPr algn="ctr" indent="0" marL="0">
              <a:buNone/>
            </a:pPr>
            <a:r>
              <a:rPr lang="en-US" sz="1400" b="1" dirty="0">
                <a:solidFill>
                  <a:srgbClr val="FB923C"/>
                </a:solidFill>
                <a:latin typeface="Arial" pitchFamily="34" charset="0"/>
                <a:ea typeface="Arial" pitchFamily="34" charset="-122"/>
                <a:cs typeface="Arial" pitchFamily="34" charset="-120"/>
              </a:rPr>
              <a:t>6</a:t>
            </a:r>
            <a:endParaRPr lang="en-US" sz="1400" dirty="0"/>
          </a:p>
        </p:txBody>
      </p:sp>
      <p:sp>
        <p:nvSpPr>
          <p:cNvPr id="28" name="Text 26"/>
          <p:cNvSpPr/>
          <p:nvPr/>
        </p:nvSpPr>
        <p:spPr>
          <a:xfrm>
            <a:off x="2880360" y="4160520"/>
            <a:ext cx="1417320" cy="365760"/>
          </a:xfrm>
          <a:prstGeom prst="rect">
            <a:avLst/>
          </a:prstGeom>
          <a:noFill/>
          <a:ln/>
        </p:spPr>
        <p:txBody>
          <a:bodyPr wrap="square" rtlCol="0" anchor="b"/>
          <a:lstStyle/>
          <a:p>
            <a:pPr indent="0" marL="0">
              <a:buNone/>
            </a:pPr>
            <a:r>
              <a:rPr lang="en-US" sz="900" b="1" dirty="0">
                <a:solidFill>
                  <a:srgbClr val="FFFFFF"/>
                </a:solidFill>
                <a:latin typeface="Arial" pitchFamily="34" charset="0"/>
                <a:ea typeface="Arial" pitchFamily="34" charset="-122"/>
                <a:cs typeface="Arial" pitchFamily="34" charset="-120"/>
              </a:rPr>
              <a:t>Cross-Correlation</a:t>
            </a:r>
            <a:endParaRPr lang="en-US" sz="900" dirty="0"/>
          </a:p>
        </p:txBody>
      </p:sp>
      <p:sp>
        <p:nvSpPr>
          <p:cNvPr id="29" name="Text 27"/>
          <p:cNvSpPr/>
          <p:nvPr/>
        </p:nvSpPr>
        <p:spPr>
          <a:xfrm>
            <a:off x="2880360" y="4507992"/>
            <a:ext cx="1417320" cy="228600"/>
          </a:xfrm>
          <a:prstGeom prst="rect">
            <a:avLst/>
          </a:prstGeom>
          <a:noFill/>
          <a:ln/>
        </p:spPr>
        <p:txBody>
          <a:bodyPr wrap="square" rtlCol="0" anchor="ctr"/>
          <a:lstStyle/>
          <a:p>
            <a:pPr indent="0" marL="0">
              <a:buNone/>
            </a:pPr>
            <a:r>
              <a:rPr lang="en-US" sz="700" dirty="0">
                <a:solidFill>
                  <a:srgbClr val="8896AB"/>
                </a:solidFill>
                <a:latin typeface="Consolas" pitchFamily="34" charset="0"/>
                <a:ea typeface="Consolas" pitchFamily="34" charset="-122"/>
                <a:cs typeface="Consolas" pitchFamily="34" charset="-120"/>
              </a:rPr>
              <a:t>scipy/numpy</a:t>
            </a:r>
            <a:endParaRPr lang="en-US" sz="700" dirty="0"/>
          </a:p>
        </p:txBody>
      </p:sp>
      <p:sp>
        <p:nvSpPr>
          <p:cNvPr id="30" name="Shape 28"/>
          <p:cNvSpPr/>
          <p:nvPr/>
        </p:nvSpPr>
        <p:spPr>
          <a:xfrm>
            <a:off x="4663440" y="4160520"/>
            <a:ext cx="1920240" cy="640080"/>
          </a:xfrm>
          <a:prstGeom prst="roundRect">
            <a:avLst>
              <a:gd name="adj" fmla="val 7143"/>
            </a:avLst>
          </a:prstGeom>
          <a:solidFill>
            <a:srgbClr val="151E2D"/>
          </a:solidFill>
          <a:ln w="12700">
            <a:solidFill>
              <a:srgbClr val="F87171"/>
            </a:solidFill>
            <a:prstDash val="solid"/>
          </a:ln>
        </p:spPr>
      </p:sp>
      <p:sp>
        <p:nvSpPr>
          <p:cNvPr id="31" name="Text 29"/>
          <p:cNvSpPr/>
          <p:nvPr/>
        </p:nvSpPr>
        <p:spPr>
          <a:xfrm>
            <a:off x="4663440" y="4160520"/>
            <a:ext cx="320040" cy="640080"/>
          </a:xfrm>
          <a:prstGeom prst="rect">
            <a:avLst/>
          </a:prstGeom>
          <a:noFill/>
          <a:ln/>
        </p:spPr>
        <p:txBody>
          <a:bodyPr wrap="square" rtlCol="0" anchor="ctr"/>
          <a:lstStyle/>
          <a:p>
            <a:pPr algn="ctr" indent="0" marL="0">
              <a:buNone/>
            </a:pPr>
            <a:r>
              <a:rPr lang="en-US" sz="1400" b="1" dirty="0">
                <a:solidFill>
                  <a:srgbClr val="F87171"/>
                </a:solidFill>
                <a:latin typeface="Arial" pitchFamily="34" charset="0"/>
                <a:ea typeface="Arial" pitchFamily="34" charset="-122"/>
                <a:cs typeface="Arial" pitchFamily="34" charset="-120"/>
              </a:rPr>
              <a:t>7</a:t>
            </a:r>
            <a:endParaRPr lang="en-US" sz="1400" dirty="0"/>
          </a:p>
        </p:txBody>
      </p:sp>
      <p:sp>
        <p:nvSpPr>
          <p:cNvPr id="32" name="Text 30"/>
          <p:cNvSpPr/>
          <p:nvPr/>
        </p:nvSpPr>
        <p:spPr>
          <a:xfrm>
            <a:off x="4983480" y="4160520"/>
            <a:ext cx="1417320" cy="365760"/>
          </a:xfrm>
          <a:prstGeom prst="rect">
            <a:avLst/>
          </a:prstGeom>
          <a:noFill/>
          <a:ln/>
        </p:spPr>
        <p:txBody>
          <a:bodyPr wrap="square" rtlCol="0" anchor="b"/>
          <a:lstStyle/>
          <a:p>
            <a:pPr indent="0" marL="0">
              <a:buNone/>
            </a:pPr>
            <a:r>
              <a:rPr lang="en-US" sz="900" b="1" dirty="0">
                <a:solidFill>
                  <a:srgbClr val="FFFFFF"/>
                </a:solidFill>
                <a:latin typeface="Arial" pitchFamily="34" charset="0"/>
                <a:ea typeface="Arial" pitchFamily="34" charset="-122"/>
                <a:cs typeface="Arial" pitchFamily="34" charset="-120"/>
              </a:rPr>
              <a:t>CUSUM Breaks</a:t>
            </a:r>
            <a:endParaRPr lang="en-US" sz="900" dirty="0"/>
          </a:p>
        </p:txBody>
      </p:sp>
      <p:sp>
        <p:nvSpPr>
          <p:cNvPr id="33" name="Text 31"/>
          <p:cNvSpPr/>
          <p:nvPr/>
        </p:nvSpPr>
        <p:spPr>
          <a:xfrm>
            <a:off x="4983480" y="4507992"/>
            <a:ext cx="1417320" cy="228600"/>
          </a:xfrm>
          <a:prstGeom prst="rect">
            <a:avLst/>
          </a:prstGeom>
          <a:noFill/>
          <a:ln/>
        </p:spPr>
        <p:txBody>
          <a:bodyPr wrap="square" rtlCol="0" anchor="ctr"/>
          <a:lstStyle/>
          <a:p>
            <a:pPr indent="0" marL="0">
              <a:buNone/>
            </a:pPr>
            <a:r>
              <a:rPr lang="en-US" sz="700" dirty="0">
                <a:solidFill>
                  <a:srgbClr val="8896AB"/>
                </a:solidFill>
                <a:latin typeface="Consolas" pitchFamily="34" charset="0"/>
                <a:ea typeface="Consolas" pitchFamily="34" charset="-122"/>
                <a:cs typeface="Consolas" pitchFamily="34" charset="-120"/>
              </a:rPr>
              <a:t>numpy</a:t>
            </a:r>
            <a:endParaRPr lang="en-US" sz="700" dirty="0"/>
          </a:p>
        </p:txBody>
      </p:sp>
      <p:sp>
        <p:nvSpPr>
          <p:cNvPr id="34" name="Shape 32"/>
          <p:cNvSpPr/>
          <p:nvPr/>
        </p:nvSpPr>
        <p:spPr>
          <a:xfrm>
            <a:off x="6766560" y="4160520"/>
            <a:ext cx="1920240" cy="640080"/>
          </a:xfrm>
          <a:prstGeom prst="roundRect">
            <a:avLst>
              <a:gd name="adj" fmla="val 7143"/>
            </a:avLst>
          </a:prstGeom>
          <a:solidFill>
            <a:srgbClr val="151E2D"/>
          </a:solidFill>
          <a:ln w="12700">
            <a:solidFill>
              <a:srgbClr val="FBBF24"/>
            </a:solidFill>
            <a:prstDash val="solid"/>
          </a:ln>
        </p:spPr>
      </p:sp>
      <p:sp>
        <p:nvSpPr>
          <p:cNvPr id="35" name="Text 33"/>
          <p:cNvSpPr/>
          <p:nvPr/>
        </p:nvSpPr>
        <p:spPr>
          <a:xfrm>
            <a:off x="6766560" y="4160520"/>
            <a:ext cx="320040" cy="640080"/>
          </a:xfrm>
          <a:prstGeom prst="rect">
            <a:avLst/>
          </a:prstGeom>
          <a:noFill/>
          <a:ln/>
        </p:spPr>
        <p:txBody>
          <a:bodyPr wrap="square" rtlCol="0" anchor="ctr"/>
          <a:lstStyle/>
          <a:p>
            <a:pPr algn="ctr" indent="0" marL="0">
              <a:buNone/>
            </a:pPr>
            <a:r>
              <a:rPr lang="en-US" sz="1400" b="1" dirty="0">
                <a:solidFill>
                  <a:srgbClr val="FBBF24"/>
                </a:solidFill>
                <a:latin typeface="Arial" pitchFamily="34" charset="0"/>
                <a:ea typeface="Arial" pitchFamily="34" charset="-122"/>
                <a:cs typeface="Arial" pitchFamily="34" charset="-120"/>
              </a:rPr>
              <a:t>8</a:t>
            </a:r>
            <a:endParaRPr lang="en-US" sz="1400" dirty="0"/>
          </a:p>
        </p:txBody>
      </p:sp>
      <p:sp>
        <p:nvSpPr>
          <p:cNvPr id="36" name="Text 34"/>
          <p:cNvSpPr/>
          <p:nvPr/>
        </p:nvSpPr>
        <p:spPr>
          <a:xfrm>
            <a:off x="7086600" y="4160520"/>
            <a:ext cx="1417320" cy="365760"/>
          </a:xfrm>
          <a:prstGeom prst="rect">
            <a:avLst/>
          </a:prstGeom>
          <a:noFill/>
          <a:ln/>
        </p:spPr>
        <p:txBody>
          <a:bodyPr wrap="square" rtlCol="0" anchor="b"/>
          <a:lstStyle/>
          <a:p>
            <a:pPr indent="0" marL="0">
              <a:buNone/>
            </a:pPr>
            <a:r>
              <a:rPr lang="en-US" sz="900" b="1" dirty="0">
                <a:solidFill>
                  <a:srgbClr val="FFFFFF"/>
                </a:solidFill>
                <a:latin typeface="Arial" pitchFamily="34" charset="0"/>
                <a:ea typeface="Arial" pitchFamily="34" charset="-122"/>
                <a:cs typeface="Arial" pitchFamily="34" charset="-120"/>
              </a:rPr>
              <a:t>Z-Score Profiling</a:t>
            </a:r>
            <a:endParaRPr lang="en-US" sz="900" dirty="0"/>
          </a:p>
        </p:txBody>
      </p:sp>
      <p:sp>
        <p:nvSpPr>
          <p:cNvPr id="37" name="Text 35"/>
          <p:cNvSpPr/>
          <p:nvPr/>
        </p:nvSpPr>
        <p:spPr>
          <a:xfrm>
            <a:off x="7086600" y="4507992"/>
            <a:ext cx="1417320" cy="228600"/>
          </a:xfrm>
          <a:prstGeom prst="rect">
            <a:avLst/>
          </a:prstGeom>
          <a:noFill/>
          <a:ln/>
        </p:spPr>
        <p:txBody>
          <a:bodyPr wrap="square" rtlCol="0" anchor="ctr"/>
          <a:lstStyle/>
          <a:p>
            <a:pPr indent="0" marL="0">
              <a:buNone/>
            </a:pPr>
            <a:r>
              <a:rPr lang="en-US" sz="700" dirty="0">
                <a:solidFill>
                  <a:srgbClr val="8896AB"/>
                </a:solidFill>
                <a:latin typeface="Consolas" pitchFamily="34" charset="0"/>
                <a:ea typeface="Consolas" pitchFamily="34" charset="-122"/>
                <a:cs typeface="Consolas" pitchFamily="34" charset="-120"/>
              </a:rPr>
              <a:t>sklearn</a:t>
            </a:r>
            <a:endParaRPr lang="en-US" sz="700" dirty="0"/>
          </a:p>
        </p:txBody>
      </p:sp>
      <p:sp>
        <p:nvSpPr>
          <p:cNvPr id="38" name="Text 36"/>
          <p:cNvSpPr/>
          <p:nvPr/>
        </p:nvSpPr>
        <p:spPr>
          <a:xfrm>
            <a:off x="8321040" y="4892040"/>
            <a:ext cx="640080" cy="182880"/>
          </a:xfrm>
          <a:prstGeom prst="rect">
            <a:avLst/>
          </a:prstGeom>
          <a:noFill/>
          <a:ln/>
        </p:spPr>
        <p:txBody>
          <a:bodyPr wrap="square" rtlCol="0" anchor="ctr"/>
          <a:lstStyle/>
          <a:p>
            <a:pPr algn="r" indent="0" marL="0">
              <a:buNone/>
            </a:pPr>
            <a:r>
              <a:rPr lang="en-US" sz="800" dirty="0">
                <a:solidFill>
                  <a:srgbClr val="8896AB"/>
                </a:solidFill>
                <a:latin typeface="Arial" pitchFamily="34" charset="0"/>
                <a:ea typeface="Arial" pitchFamily="34" charset="-122"/>
                <a:cs typeface="Arial" pitchFamily="34" charset="-120"/>
              </a:rPr>
              <a:t>1 / 10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274320" y="182880"/>
            <a:ext cx="411480" cy="411480"/>
          </a:xfrm>
          <a:prstGeom prst="ellipse">
            <a:avLst/>
          </a:prstGeom>
          <a:solidFill>
            <a:srgbClr val="F87171"/>
          </a:solidFill>
          <a:ln/>
        </p:spPr>
      </p:sp>
      <p:sp>
        <p:nvSpPr>
          <p:cNvPr id="3" name="Text 1"/>
          <p:cNvSpPr/>
          <p:nvPr/>
        </p:nvSpPr>
        <p:spPr>
          <a:xfrm>
            <a:off x="274320" y="182880"/>
            <a:ext cx="411480" cy="411480"/>
          </a:xfrm>
          <a:prstGeom prst="rect">
            <a:avLst/>
          </a:prstGeom>
          <a:noFill/>
          <a:ln/>
        </p:spPr>
        <p:txBody>
          <a:bodyPr wrap="square" rtlCol="0" anchor="ctr"/>
          <a:lstStyle/>
          <a:p>
            <a:pPr algn="ctr" indent="0" marL="0">
              <a:buNone/>
            </a:pPr>
            <a:r>
              <a:rPr lang="en-US" sz="1800" b="1" dirty="0">
                <a:solidFill>
                  <a:srgbClr val="0F1419"/>
                </a:solidFill>
                <a:latin typeface="Arial" pitchFamily="34" charset="0"/>
                <a:ea typeface="Arial" pitchFamily="34" charset="-122"/>
                <a:cs typeface="Arial" pitchFamily="34" charset="-120"/>
              </a:rPr>
              <a:t>1</a:t>
            </a:r>
            <a:endParaRPr lang="en-US" sz="1800" dirty="0"/>
          </a:p>
        </p:txBody>
      </p:sp>
      <p:sp>
        <p:nvSpPr>
          <p:cNvPr id="4" name="Text 2"/>
          <p:cNvSpPr/>
          <p:nvPr/>
        </p:nvSpPr>
        <p:spPr>
          <a:xfrm>
            <a:off x="822960" y="201168"/>
            <a:ext cx="5486400" cy="365760"/>
          </a:xfrm>
          <a:prstGeom prst="rect">
            <a:avLst/>
          </a:prstGeom>
          <a:noFill/>
          <a:ln/>
        </p:spPr>
        <p:txBody>
          <a:bodyPr wrap="square" rtlCol="0" anchor="ctr"/>
          <a:lstStyle/>
          <a:p>
            <a:pPr indent="0" marL="0">
              <a:buNone/>
            </a:pPr>
            <a:r>
              <a:rPr lang="en-US" sz="2000" b="1" dirty="0">
                <a:solidFill>
                  <a:srgbClr val="F87171"/>
                </a:solidFill>
                <a:latin typeface="Georgia" pitchFamily="34" charset="0"/>
                <a:ea typeface="Georgia" pitchFamily="34" charset="-122"/>
                <a:cs typeface="Georgia" pitchFamily="34" charset="-120"/>
              </a:rPr>
              <a:t>CPI Basket Weight Estimation</a:t>
            </a:r>
            <a:endParaRPr lang="en-US" sz="2000" dirty="0"/>
          </a:p>
        </p:txBody>
      </p:sp>
      <p:sp>
        <p:nvSpPr>
          <p:cNvPr id="5" name="Text 3"/>
          <p:cNvSpPr/>
          <p:nvPr/>
        </p:nvSpPr>
        <p:spPr>
          <a:xfrm>
            <a:off x="822960" y="521208"/>
            <a:ext cx="5486400" cy="182880"/>
          </a:xfrm>
          <a:prstGeom prst="rect">
            <a:avLst/>
          </a:prstGeom>
          <a:noFill/>
          <a:ln/>
        </p:spPr>
        <p:txBody>
          <a:bodyPr wrap="square" rtlCol="0" anchor="ctr"/>
          <a:lstStyle/>
          <a:p>
            <a:pPr indent="0" marL="0">
              <a:buNone/>
            </a:pPr>
            <a:r>
              <a:rPr lang="en-US" sz="1000" dirty="0">
                <a:solidFill>
                  <a:srgbClr val="8896AB"/>
                </a:solidFill>
                <a:latin typeface="Arial" pitchFamily="34" charset="0"/>
                <a:ea typeface="Arial" pitchFamily="34" charset="-122"/>
                <a:cs typeface="Arial" pitchFamily="34" charset="-120"/>
              </a:rPr>
              <a:t>Reverse-engineering FCSA's hidden sector weights</a:t>
            </a:r>
            <a:endParaRPr lang="en-US" sz="1000" dirty="0"/>
          </a:p>
        </p:txBody>
      </p:sp>
      <p:sp>
        <p:nvSpPr>
          <p:cNvPr id="6" name="Shape 4"/>
          <p:cNvSpPr/>
          <p:nvPr/>
        </p:nvSpPr>
        <p:spPr>
          <a:xfrm>
            <a:off x="274320" y="822960"/>
            <a:ext cx="2560320" cy="1097280"/>
          </a:xfrm>
          <a:prstGeom prst="roundRect">
            <a:avLst>
              <a:gd name="adj" fmla="val 5000"/>
            </a:avLst>
          </a:prstGeom>
          <a:solidFill>
            <a:srgbClr val="151E2D"/>
          </a:solidFill>
          <a:ln w="6350">
            <a:solidFill>
              <a:srgbClr val="22D3EE"/>
            </a:solidFill>
            <a:prstDash val="solid"/>
          </a:ln>
        </p:spPr>
      </p:sp>
      <p:sp>
        <p:nvSpPr>
          <p:cNvPr id="7" name="Text 5"/>
          <p:cNvSpPr/>
          <p:nvPr/>
        </p:nvSpPr>
        <p:spPr>
          <a:xfrm>
            <a:off x="365760" y="868680"/>
            <a:ext cx="2377440" cy="274320"/>
          </a:xfrm>
          <a:prstGeom prst="rect">
            <a:avLst/>
          </a:prstGeom>
          <a:noFill/>
          <a:ln/>
        </p:spPr>
        <p:txBody>
          <a:bodyPr wrap="square" rtlCol="0" anchor="ctr"/>
          <a:lstStyle/>
          <a:p>
            <a:pPr indent="0" marL="0">
              <a:buNone/>
            </a:pPr>
            <a:r>
              <a:rPr lang="en-US" sz="900" b="1" dirty="0">
                <a:solidFill>
                  <a:srgbClr val="22D3EE"/>
                </a:solidFill>
                <a:latin typeface="Arial" pitchFamily="34" charset="0"/>
                <a:ea typeface="Arial" pitchFamily="34" charset="-122"/>
                <a:cs typeface="Arial" pitchFamily="34" charset="-120"/>
              </a:rPr>
              <a:t>INPUT</a:t>
            </a:r>
            <a:endParaRPr lang="en-US" sz="900" dirty="0"/>
          </a:p>
        </p:txBody>
      </p:sp>
      <p:sp>
        <p:nvSpPr>
          <p:cNvPr id="8" name="Text 6"/>
          <p:cNvSpPr/>
          <p:nvPr/>
        </p:nvSpPr>
        <p:spPr>
          <a:xfrm>
            <a:off x="365760" y="1124712"/>
            <a:ext cx="237744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CPI Index levels (2021 base)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60 months × 14 columns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All Items + 13 sectors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Each value = price level relative to 2021=100</a:t>
            </a:r>
            <a:endParaRPr lang="en-US" sz="800" dirty="0"/>
          </a:p>
        </p:txBody>
      </p:sp>
      <p:sp>
        <p:nvSpPr>
          <p:cNvPr id="9" name="Shape 7"/>
          <p:cNvSpPr/>
          <p:nvPr/>
        </p:nvSpPr>
        <p:spPr>
          <a:xfrm>
            <a:off x="3017520" y="822960"/>
            <a:ext cx="3383280" cy="1097280"/>
          </a:xfrm>
          <a:prstGeom prst="roundRect">
            <a:avLst>
              <a:gd name="adj" fmla="val 5000"/>
            </a:avLst>
          </a:prstGeom>
          <a:solidFill>
            <a:srgbClr val="151E2D"/>
          </a:solidFill>
          <a:ln w="6350">
            <a:solidFill>
              <a:srgbClr val="FBBF24"/>
            </a:solidFill>
            <a:prstDash val="solid"/>
          </a:ln>
        </p:spPr>
      </p:sp>
      <p:sp>
        <p:nvSpPr>
          <p:cNvPr id="10" name="Text 8"/>
          <p:cNvSpPr/>
          <p:nvPr/>
        </p:nvSpPr>
        <p:spPr>
          <a:xfrm>
            <a:off x="3108960" y="868680"/>
            <a:ext cx="320040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METHOD: Constrained Least Squares</a:t>
            </a:r>
            <a:endParaRPr lang="en-US" sz="900" dirty="0"/>
          </a:p>
        </p:txBody>
      </p:sp>
      <p:sp>
        <p:nvSpPr>
          <p:cNvPr id="11" name="Text 9"/>
          <p:cNvSpPr/>
          <p:nvPr/>
        </p:nvSpPr>
        <p:spPr>
          <a:xfrm>
            <a:off x="3108960" y="1124712"/>
            <a:ext cx="320040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CPI_ALL = w₁×Sector₁ + w₂×Sector₂ + ... + w₁₃×Sector₁₃</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Solve for w using scipy.optimize.minimize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Constraints: all w ≥ 0, Σw = 1.0</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60 equations, 13 unknowns → overdetermined system</a:t>
            </a:r>
            <a:endParaRPr lang="en-US" sz="800" dirty="0"/>
          </a:p>
        </p:txBody>
      </p:sp>
      <p:sp>
        <p:nvSpPr>
          <p:cNvPr id="12" name="Shape 10"/>
          <p:cNvSpPr/>
          <p:nvPr/>
        </p:nvSpPr>
        <p:spPr>
          <a:xfrm>
            <a:off x="6583680" y="822960"/>
            <a:ext cx="2377440" cy="1097280"/>
          </a:xfrm>
          <a:prstGeom prst="roundRect">
            <a:avLst>
              <a:gd name="adj" fmla="val 5000"/>
            </a:avLst>
          </a:prstGeom>
          <a:solidFill>
            <a:srgbClr val="151E2D"/>
          </a:solidFill>
          <a:ln w="6350">
            <a:solidFill>
              <a:srgbClr val="4ADE80"/>
            </a:solidFill>
            <a:prstDash val="solid"/>
          </a:ln>
        </p:spPr>
      </p:sp>
      <p:sp>
        <p:nvSpPr>
          <p:cNvPr id="13" name="Text 11"/>
          <p:cNvSpPr/>
          <p:nvPr/>
        </p:nvSpPr>
        <p:spPr>
          <a:xfrm>
            <a:off x="6675120" y="868680"/>
            <a:ext cx="2194560" cy="274320"/>
          </a:xfrm>
          <a:prstGeom prst="rect">
            <a:avLst/>
          </a:prstGeom>
          <a:noFill/>
          <a:ln/>
        </p:spPr>
        <p:txBody>
          <a:bodyPr wrap="square" rtlCol="0" anchor="ctr"/>
          <a:lstStyle/>
          <a:p>
            <a:pPr indent="0" marL="0">
              <a:buNone/>
            </a:pPr>
            <a:r>
              <a:rPr lang="en-US" sz="900" b="1" dirty="0">
                <a:solidFill>
                  <a:srgbClr val="4ADE80"/>
                </a:solidFill>
                <a:latin typeface="Arial" pitchFamily="34" charset="0"/>
                <a:ea typeface="Arial" pitchFamily="34" charset="-122"/>
                <a:cs typeface="Arial" pitchFamily="34" charset="-120"/>
              </a:rPr>
              <a:t>OUTPUT</a:t>
            </a:r>
            <a:endParaRPr lang="en-US" sz="900" dirty="0"/>
          </a:p>
        </p:txBody>
      </p:sp>
      <p:sp>
        <p:nvSpPr>
          <p:cNvPr id="14" name="Text 12"/>
          <p:cNvSpPr/>
          <p:nvPr/>
        </p:nvSpPr>
        <p:spPr>
          <a:xfrm>
            <a:off x="6675120" y="1124712"/>
            <a:ext cx="219456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Housing = 35.2%</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Transport = 12.7%</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Food = 11.9%</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R² = 0.9999994</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Max error = 0.006 index pts</a:t>
            </a:r>
            <a:endParaRPr lang="en-US" sz="800" dirty="0"/>
          </a:p>
        </p:txBody>
      </p:sp>
      <p:sp>
        <p:nvSpPr>
          <p:cNvPr id="15" name="Shape 13"/>
          <p:cNvSpPr/>
          <p:nvPr/>
        </p:nvSpPr>
        <p:spPr>
          <a:xfrm>
            <a:off x="274320" y="2057400"/>
            <a:ext cx="4846320" cy="1508760"/>
          </a:xfrm>
          <a:prstGeom prst="roundRect">
            <a:avLst>
              <a:gd name="adj" fmla="val 3636"/>
            </a:avLst>
          </a:prstGeom>
          <a:solidFill>
            <a:srgbClr val="0D1117"/>
          </a:solidFill>
          <a:ln/>
        </p:spPr>
      </p:sp>
      <p:sp>
        <p:nvSpPr>
          <p:cNvPr id="16" name="Text 14"/>
          <p:cNvSpPr/>
          <p:nvPr/>
        </p:nvSpPr>
        <p:spPr>
          <a:xfrm>
            <a:off x="365760" y="2057400"/>
            <a:ext cx="4663440" cy="1508760"/>
          </a:xfrm>
          <a:prstGeom prst="rect">
            <a:avLst/>
          </a:prstGeom>
          <a:noFill/>
          <a:ln/>
        </p:spPr>
        <p:txBody>
          <a:bodyPr wrap="square" rtlCol="0" anchor="t"/>
          <a:lstStyle/>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from scipy.optimize import minimize</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X = idx21[sectors].values  # 60×13 sector indices</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y = idx21['ALL'].values    # 60×1 all items</a:t>
            </a:r>
            <a:endParaRPr lang="en-US" sz="800" dirty="0"/>
          </a:p>
          <a:p>
            <a:pPr indent="0" marL="0">
              <a:lnSpc>
                <a:spcPct val="130000"/>
              </a:lnSpc>
              <a:buNone/>
            </a:pP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result = minimize(</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lambda w: np.sum((y - X @ w)**2),  # minimise squared error</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w0, method='SLSQP',</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bounds=[(0,1)]*13,                  # weights ≥ 0</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constraints={'type':'eq',</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'fun': lambda w: sum(w)-1})  # weights sum to 1</a:t>
            </a:r>
            <a:endParaRPr lang="en-US" sz="800" dirty="0"/>
          </a:p>
        </p:txBody>
      </p:sp>
      <p:sp>
        <p:nvSpPr>
          <p:cNvPr id="17" name="Shape 15"/>
          <p:cNvSpPr/>
          <p:nvPr/>
        </p:nvSpPr>
        <p:spPr>
          <a:xfrm>
            <a:off x="5303520" y="2057400"/>
            <a:ext cx="3657600" cy="1508760"/>
          </a:xfrm>
          <a:prstGeom prst="roundRect">
            <a:avLst>
              <a:gd name="adj" fmla="val 3636"/>
            </a:avLst>
          </a:prstGeom>
          <a:solidFill>
            <a:srgbClr val="151E2D"/>
          </a:solidFill>
          <a:ln w="6350">
            <a:solidFill>
              <a:srgbClr val="A78BFA"/>
            </a:solidFill>
            <a:prstDash val="solid"/>
          </a:ln>
        </p:spPr>
      </p:sp>
      <p:sp>
        <p:nvSpPr>
          <p:cNvPr id="18" name="Text 16"/>
          <p:cNvSpPr/>
          <p:nvPr/>
        </p:nvSpPr>
        <p:spPr>
          <a:xfrm>
            <a:off x="5394960" y="2103120"/>
            <a:ext cx="3474720" cy="27432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WHY THIS METHOD?</a:t>
            </a:r>
            <a:endParaRPr lang="en-US" sz="900" dirty="0"/>
          </a:p>
        </p:txBody>
      </p:sp>
      <p:sp>
        <p:nvSpPr>
          <p:cNvPr id="19" name="Text 17"/>
          <p:cNvSpPr/>
          <p:nvPr/>
        </p:nvSpPr>
        <p:spPr>
          <a:xfrm>
            <a:off x="5394960" y="2359152"/>
            <a:ext cx="3474720" cy="116128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 FCSA doesn't publish weights — they're hidden</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The Laspeyres formula means ALL = weighted avg of sectors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With 60 months of data &amp; 13 unknowns, the system is 4.6× overdetermined</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Constrained OLS is the standard approach for this inverse problem</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R² = 0.9999994 proves the identity holds perfectly</a:t>
            </a:r>
            <a:endParaRPr lang="en-US" sz="800" dirty="0"/>
          </a:p>
        </p:txBody>
      </p:sp>
      <p:sp>
        <p:nvSpPr>
          <p:cNvPr id="20" name="Shape 18"/>
          <p:cNvSpPr/>
          <p:nvPr/>
        </p:nvSpPr>
        <p:spPr>
          <a:xfrm>
            <a:off x="274320" y="3749040"/>
            <a:ext cx="8686800" cy="1188720"/>
          </a:xfrm>
          <a:prstGeom prst="roundRect">
            <a:avLst>
              <a:gd name="adj" fmla="val 4615"/>
            </a:avLst>
          </a:prstGeom>
          <a:solidFill>
            <a:srgbClr val="151E2D"/>
          </a:solidFill>
          <a:ln w="6350">
            <a:solidFill>
              <a:srgbClr val="FBBF24"/>
            </a:solidFill>
            <a:prstDash val="solid"/>
          </a:ln>
        </p:spPr>
      </p:sp>
      <p:sp>
        <p:nvSpPr>
          <p:cNvPr id="21" name="Text 19"/>
          <p:cNvSpPr/>
          <p:nvPr/>
        </p:nvSpPr>
        <p:spPr>
          <a:xfrm>
            <a:off x="365760" y="3794760"/>
            <a:ext cx="850392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WHERE THIS FITS IN THE BIGGER STORY</a:t>
            </a:r>
            <a:endParaRPr lang="en-US" sz="900" dirty="0"/>
          </a:p>
        </p:txBody>
      </p:sp>
      <p:sp>
        <p:nvSpPr>
          <p:cNvPr id="22" name="Text 20"/>
          <p:cNvSpPr/>
          <p:nvPr/>
        </p:nvSpPr>
        <p:spPr>
          <a:xfrm>
            <a:off x="365760" y="4050792"/>
            <a:ext cx="8503920" cy="84124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Housing at 35.2% is the LARGEST sector — 2.8× Transport, 3.0× Food. At +4.01% inflation, Housing alone contributes ~1.4pp of the 2.04% headline. That means 69% of current inflation comes from ONE sector. This is the mathematical foundation of our Housing Dominance Thesis. It also explains why Tobacco's 72.5% excise shock barely moved headline CPI (weight = 0.13%).</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Used in: PPT Slide 4 (sector decomposition), Dashboard Tab 3 (sector deep-dive), Dashboard Tab 5 (anomalies — why tobacco doesn't matter)</a:t>
            </a:r>
            <a:endParaRPr lang="en-US" sz="800" dirty="0"/>
          </a:p>
        </p:txBody>
      </p:sp>
      <p:sp>
        <p:nvSpPr>
          <p:cNvPr id="23" name="Text 21"/>
          <p:cNvSpPr/>
          <p:nvPr/>
        </p:nvSpPr>
        <p:spPr>
          <a:xfrm>
            <a:off x="8321040" y="4892040"/>
            <a:ext cx="640080" cy="182880"/>
          </a:xfrm>
          <a:prstGeom prst="rect">
            <a:avLst/>
          </a:prstGeom>
          <a:noFill/>
          <a:ln/>
        </p:spPr>
        <p:txBody>
          <a:bodyPr wrap="square" rtlCol="0" anchor="ctr"/>
          <a:lstStyle/>
          <a:p>
            <a:pPr algn="r" indent="0" marL="0">
              <a:buNone/>
            </a:pPr>
            <a:r>
              <a:rPr lang="en-US" sz="800" dirty="0">
                <a:solidFill>
                  <a:srgbClr val="8896AB"/>
                </a:solidFill>
                <a:latin typeface="Arial" pitchFamily="34" charset="0"/>
                <a:ea typeface="Arial" pitchFamily="34" charset="-122"/>
                <a:cs typeface="Arial" pitchFamily="34" charset="-120"/>
              </a:rPr>
              <a:t>2 /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274320" y="182880"/>
            <a:ext cx="411480" cy="411480"/>
          </a:xfrm>
          <a:prstGeom prst="ellipse">
            <a:avLst/>
          </a:prstGeom>
          <a:solidFill>
            <a:srgbClr val="FBBF24"/>
          </a:solidFill>
          <a:ln/>
        </p:spPr>
      </p:sp>
      <p:sp>
        <p:nvSpPr>
          <p:cNvPr id="3" name="Text 1"/>
          <p:cNvSpPr/>
          <p:nvPr/>
        </p:nvSpPr>
        <p:spPr>
          <a:xfrm>
            <a:off x="274320" y="182880"/>
            <a:ext cx="411480" cy="411480"/>
          </a:xfrm>
          <a:prstGeom prst="rect">
            <a:avLst/>
          </a:prstGeom>
          <a:noFill/>
          <a:ln/>
        </p:spPr>
        <p:txBody>
          <a:bodyPr wrap="square" rtlCol="0" anchor="ctr"/>
          <a:lstStyle/>
          <a:p>
            <a:pPr algn="ctr" indent="0" marL="0">
              <a:buNone/>
            </a:pPr>
            <a:r>
              <a:rPr lang="en-US" sz="1800" b="1" dirty="0">
                <a:solidFill>
                  <a:srgbClr val="0F1419"/>
                </a:solidFill>
                <a:latin typeface="Arial" pitchFamily="34" charset="0"/>
                <a:ea typeface="Arial" pitchFamily="34" charset="-122"/>
                <a:cs typeface="Arial" pitchFamily="34" charset="-120"/>
              </a:rPr>
              <a:t>2</a:t>
            </a:r>
            <a:endParaRPr lang="en-US" sz="1800" dirty="0"/>
          </a:p>
        </p:txBody>
      </p:sp>
      <p:sp>
        <p:nvSpPr>
          <p:cNvPr id="4" name="Text 2"/>
          <p:cNvSpPr/>
          <p:nvPr/>
        </p:nvSpPr>
        <p:spPr>
          <a:xfrm>
            <a:off x="822960" y="201168"/>
            <a:ext cx="5486400" cy="365760"/>
          </a:xfrm>
          <a:prstGeom prst="rect">
            <a:avLst/>
          </a:prstGeom>
          <a:noFill/>
          <a:ln/>
        </p:spPr>
        <p:txBody>
          <a:bodyPr wrap="square" rtlCol="0" anchor="ctr"/>
          <a:lstStyle/>
          <a:p>
            <a:pPr indent="0" marL="0">
              <a:buNone/>
            </a:pPr>
            <a:r>
              <a:rPr lang="en-US" sz="2000" b="1" dirty="0">
                <a:solidFill>
                  <a:srgbClr val="FBBF24"/>
                </a:solidFill>
                <a:latin typeface="Georgia" pitchFamily="34" charset="0"/>
                <a:ea typeface="Georgia" pitchFamily="34" charset="-122"/>
                <a:cs typeface="Georgia" pitchFamily="34" charset="-120"/>
              </a:rPr>
              <a:t>STL Decomposition</a:t>
            </a:r>
            <a:endParaRPr lang="en-US" sz="2000" dirty="0"/>
          </a:p>
        </p:txBody>
      </p:sp>
      <p:sp>
        <p:nvSpPr>
          <p:cNvPr id="5" name="Text 3"/>
          <p:cNvSpPr/>
          <p:nvPr/>
        </p:nvSpPr>
        <p:spPr>
          <a:xfrm>
            <a:off x="822960" y="521208"/>
            <a:ext cx="5486400" cy="182880"/>
          </a:xfrm>
          <a:prstGeom prst="rect">
            <a:avLst/>
          </a:prstGeom>
          <a:noFill/>
          <a:ln/>
        </p:spPr>
        <p:txBody>
          <a:bodyPr wrap="square" rtlCol="0" anchor="ctr"/>
          <a:lstStyle/>
          <a:p>
            <a:pPr indent="0" marL="0">
              <a:buNone/>
            </a:pPr>
            <a:r>
              <a:rPr lang="en-US" sz="1000" dirty="0">
                <a:solidFill>
                  <a:srgbClr val="8896AB"/>
                </a:solidFill>
                <a:latin typeface="Arial" pitchFamily="34" charset="0"/>
                <a:ea typeface="Arial" pitchFamily="34" charset="-122"/>
                <a:cs typeface="Arial" pitchFamily="34" charset="-120"/>
              </a:rPr>
              <a:t>Is UAE inflation driven by structure or by seasons?</a:t>
            </a:r>
            <a:endParaRPr lang="en-US" sz="1000" dirty="0"/>
          </a:p>
        </p:txBody>
      </p:sp>
      <p:sp>
        <p:nvSpPr>
          <p:cNvPr id="6" name="Shape 4"/>
          <p:cNvSpPr/>
          <p:nvPr/>
        </p:nvSpPr>
        <p:spPr>
          <a:xfrm>
            <a:off x="274320" y="822960"/>
            <a:ext cx="2560320" cy="1097280"/>
          </a:xfrm>
          <a:prstGeom prst="roundRect">
            <a:avLst>
              <a:gd name="adj" fmla="val 5000"/>
            </a:avLst>
          </a:prstGeom>
          <a:solidFill>
            <a:srgbClr val="151E2D"/>
          </a:solidFill>
          <a:ln w="6350">
            <a:solidFill>
              <a:srgbClr val="22D3EE"/>
            </a:solidFill>
            <a:prstDash val="solid"/>
          </a:ln>
        </p:spPr>
      </p:sp>
      <p:sp>
        <p:nvSpPr>
          <p:cNvPr id="7" name="Text 5"/>
          <p:cNvSpPr/>
          <p:nvPr/>
        </p:nvSpPr>
        <p:spPr>
          <a:xfrm>
            <a:off x="365760" y="868680"/>
            <a:ext cx="2377440" cy="274320"/>
          </a:xfrm>
          <a:prstGeom prst="rect">
            <a:avLst/>
          </a:prstGeom>
          <a:noFill/>
          <a:ln/>
        </p:spPr>
        <p:txBody>
          <a:bodyPr wrap="square" rtlCol="0" anchor="ctr"/>
          <a:lstStyle/>
          <a:p>
            <a:pPr indent="0" marL="0">
              <a:buNone/>
            </a:pPr>
            <a:r>
              <a:rPr lang="en-US" sz="900" b="1" dirty="0">
                <a:solidFill>
                  <a:srgbClr val="22D3EE"/>
                </a:solidFill>
                <a:latin typeface="Arial" pitchFamily="34" charset="0"/>
                <a:ea typeface="Arial" pitchFamily="34" charset="-122"/>
                <a:cs typeface="Arial" pitchFamily="34" charset="-120"/>
              </a:rPr>
              <a:t>INPUT</a:t>
            </a:r>
            <a:endParaRPr lang="en-US" sz="900" dirty="0"/>
          </a:p>
        </p:txBody>
      </p:sp>
      <p:sp>
        <p:nvSpPr>
          <p:cNvPr id="8" name="Text 6"/>
          <p:cNvSpPr/>
          <p:nvPr/>
        </p:nvSpPr>
        <p:spPr>
          <a:xfrm>
            <a:off x="365760" y="1124712"/>
            <a:ext cx="237744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CPI Index (2014 base)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84 monthly observations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2014-01 to 2020-12</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Range: 98.58 to 112.29</a:t>
            </a:r>
            <a:endParaRPr lang="en-US" sz="800" dirty="0"/>
          </a:p>
        </p:txBody>
      </p:sp>
      <p:sp>
        <p:nvSpPr>
          <p:cNvPr id="9" name="Shape 7"/>
          <p:cNvSpPr/>
          <p:nvPr/>
        </p:nvSpPr>
        <p:spPr>
          <a:xfrm>
            <a:off x="3017520" y="822960"/>
            <a:ext cx="3383280" cy="1097280"/>
          </a:xfrm>
          <a:prstGeom prst="roundRect">
            <a:avLst>
              <a:gd name="adj" fmla="val 5000"/>
            </a:avLst>
          </a:prstGeom>
          <a:solidFill>
            <a:srgbClr val="151E2D"/>
          </a:solidFill>
          <a:ln w="6350">
            <a:solidFill>
              <a:srgbClr val="FBBF24"/>
            </a:solidFill>
            <a:prstDash val="solid"/>
          </a:ln>
        </p:spPr>
      </p:sp>
      <p:sp>
        <p:nvSpPr>
          <p:cNvPr id="10" name="Text 8"/>
          <p:cNvSpPr/>
          <p:nvPr/>
        </p:nvSpPr>
        <p:spPr>
          <a:xfrm>
            <a:off x="3108960" y="868680"/>
            <a:ext cx="320040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METHOD: STL (Seasonal-Trend-Loess)</a:t>
            </a:r>
            <a:endParaRPr lang="en-US" sz="900" dirty="0"/>
          </a:p>
        </p:txBody>
      </p:sp>
      <p:sp>
        <p:nvSpPr>
          <p:cNvPr id="11" name="Text 9"/>
          <p:cNvSpPr/>
          <p:nvPr/>
        </p:nvSpPr>
        <p:spPr>
          <a:xfrm>
            <a:off x="3108960" y="1124712"/>
            <a:ext cx="320040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Original = Trend + Seasonal + Residual</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Loess = locally weighted regression at each point</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period=12 (monthly data, annual cycle)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robust=True (handles outliers like VAT shock)</a:t>
            </a:r>
            <a:endParaRPr lang="en-US" sz="800" dirty="0"/>
          </a:p>
        </p:txBody>
      </p:sp>
      <p:sp>
        <p:nvSpPr>
          <p:cNvPr id="12" name="Shape 10"/>
          <p:cNvSpPr/>
          <p:nvPr/>
        </p:nvSpPr>
        <p:spPr>
          <a:xfrm>
            <a:off x="6583680" y="822960"/>
            <a:ext cx="2377440" cy="1097280"/>
          </a:xfrm>
          <a:prstGeom prst="roundRect">
            <a:avLst>
              <a:gd name="adj" fmla="val 5000"/>
            </a:avLst>
          </a:prstGeom>
          <a:solidFill>
            <a:srgbClr val="151E2D"/>
          </a:solidFill>
          <a:ln w="6350">
            <a:solidFill>
              <a:srgbClr val="4ADE80"/>
            </a:solidFill>
            <a:prstDash val="solid"/>
          </a:ln>
        </p:spPr>
      </p:sp>
      <p:sp>
        <p:nvSpPr>
          <p:cNvPr id="13" name="Text 11"/>
          <p:cNvSpPr/>
          <p:nvPr/>
        </p:nvSpPr>
        <p:spPr>
          <a:xfrm>
            <a:off x="6675120" y="868680"/>
            <a:ext cx="2194560" cy="274320"/>
          </a:xfrm>
          <a:prstGeom prst="rect">
            <a:avLst/>
          </a:prstGeom>
          <a:noFill/>
          <a:ln/>
        </p:spPr>
        <p:txBody>
          <a:bodyPr wrap="square" rtlCol="0" anchor="ctr"/>
          <a:lstStyle/>
          <a:p>
            <a:pPr indent="0" marL="0">
              <a:buNone/>
            </a:pPr>
            <a:r>
              <a:rPr lang="en-US" sz="900" b="1" dirty="0">
                <a:solidFill>
                  <a:srgbClr val="4ADE80"/>
                </a:solidFill>
                <a:latin typeface="Arial" pitchFamily="34" charset="0"/>
                <a:ea typeface="Arial" pitchFamily="34" charset="-122"/>
                <a:cs typeface="Arial" pitchFamily="34" charset="-120"/>
              </a:rPr>
              <a:t>OUTPUT</a:t>
            </a:r>
            <a:endParaRPr lang="en-US" sz="900" dirty="0"/>
          </a:p>
        </p:txBody>
      </p:sp>
      <p:sp>
        <p:nvSpPr>
          <p:cNvPr id="14" name="Text 12"/>
          <p:cNvSpPr/>
          <p:nvPr/>
        </p:nvSpPr>
        <p:spPr>
          <a:xfrm>
            <a:off x="6675120" y="1124712"/>
            <a:ext cx="219456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Trend variance: 85.8%</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Seasonal variance: 0.5%</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Residual variance: 4.4%</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Seasonal amplitude: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just ±0.7 index points</a:t>
            </a:r>
            <a:endParaRPr lang="en-US" sz="800" dirty="0"/>
          </a:p>
        </p:txBody>
      </p:sp>
      <p:sp>
        <p:nvSpPr>
          <p:cNvPr id="15" name="Shape 13"/>
          <p:cNvSpPr/>
          <p:nvPr/>
        </p:nvSpPr>
        <p:spPr>
          <a:xfrm>
            <a:off x="274320" y="2057400"/>
            <a:ext cx="4846320" cy="1417320"/>
          </a:xfrm>
          <a:prstGeom prst="roundRect">
            <a:avLst>
              <a:gd name="adj" fmla="val 3871"/>
            </a:avLst>
          </a:prstGeom>
          <a:solidFill>
            <a:srgbClr val="0D1117"/>
          </a:solidFill>
          <a:ln/>
        </p:spPr>
      </p:sp>
      <p:sp>
        <p:nvSpPr>
          <p:cNvPr id="16" name="Text 14"/>
          <p:cNvSpPr/>
          <p:nvPr/>
        </p:nvSpPr>
        <p:spPr>
          <a:xfrm>
            <a:off x="365760" y="2057400"/>
            <a:ext cx="4663440" cy="1417320"/>
          </a:xfrm>
          <a:prstGeom prst="rect">
            <a:avLst/>
          </a:prstGeom>
          <a:noFill/>
          <a:ln/>
        </p:spPr>
        <p:txBody>
          <a:bodyPr wrap="square" rtlCol="0" anchor="t"/>
          <a:lstStyle/>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from statsmodels.tsa.seasonal import STL</a:t>
            </a:r>
            <a:endParaRPr lang="en-US" sz="800" dirty="0"/>
          </a:p>
          <a:p>
            <a:pPr indent="0" marL="0">
              <a:lnSpc>
                <a:spcPct val="130000"/>
              </a:lnSpc>
              <a:buNone/>
            </a:pP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stl = STL(cpi_monthly, period=12, robust=True)</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result = stl.fit()</a:t>
            </a:r>
            <a:endParaRPr lang="en-US" sz="800" dirty="0"/>
          </a:p>
          <a:p>
            <a:pPr indent="0" marL="0">
              <a:lnSpc>
                <a:spcPct val="130000"/>
              </a:lnSpc>
              <a:buNone/>
            </a:pP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trend    = result.trend      # long-term direction</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seasonal = result.seasonal   # repeating calendar pattern</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residual = result.resid      # unexplained remainder</a:t>
            </a:r>
            <a:endParaRPr lang="en-US" sz="800" dirty="0"/>
          </a:p>
          <a:p>
            <a:pPr indent="0" marL="0">
              <a:lnSpc>
                <a:spcPct val="130000"/>
              </a:lnSpc>
              <a:buNone/>
            </a:pP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Variance shares</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trend_pct = trend.var() / cpi_monthly.var() * 100   # → 85.8%</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seasonal_pct = seasonal.var() / cpi_monthly.var() * 100  # → 0.5%</a:t>
            </a:r>
            <a:endParaRPr lang="en-US" sz="800" dirty="0"/>
          </a:p>
        </p:txBody>
      </p:sp>
      <p:sp>
        <p:nvSpPr>
          <p:cNvPr id="17" name="Shape 15"/>
          <p:cNvSpPr/>
          <p:nvPr/>
        </p:nvSpPr>
        <p:spPr>
          <a:xfrm>
            <a:off x="5303520" y="2057400"/>
            <a:ext cx="3657600" cy="1417320"/>
          </a:xfrm>
          <a:prstGeom prst="roundRect">
            <a:avLst>
              <a:gd name="adj" fmla="val 3871"/>
            </a:avLst>
          </a:prstGeom>
          <a:solidFill>
            <a:srgbClr val="151E2D"/>
          </a:solidFill>
          <a:ln w="6350">
            <a:solidFill>
              <a:srgbClr val="A78BFA"/>
            </a:solidFill>
            <a:prstDash val="solid"/>
          </a:ln>
        </p:spPr>
      </p:sp>
      <p:sp>
        <p:nvSpPr>
          <p:cNvPr id="18" name="Text 16"/>
          <p:cNvSpPr/>
          <p:nvPr/>
        </p:nvSpPr>
        <p:spPr>
          <a:xfrm>
            <a:off x="5394960" y="2103120"/>
            <a:ext cx="3474720" cy="27432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WHY STL?</a:t>
            </a:r>
            <a:endParaRPr lang="en-US" sz="900" dirty="0"/>
          </a:p>
        </p:txBody>
      </p:sp>
      <p:sp>
        <p:nvSpPr>
          <p:cNvPr id="19" name="Text 17"/>
          <p:cNvSpPr/>
          <p:nvPr/>
        </p:nvSpPr>
        <p:spPr>
          <a:xfrm>
            <a:off x="5394960" y="2359152"/>
            <a:ext cx="3474720" cy="106984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 Standard method for decomposing time series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Handles non-linear trends (unlike classical decomposition)</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robust=True prevents VAT shock from distorting seasonal estimate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period=12 matches the annual cycle expectation</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Alternative (X-13 ARIMA) requires more assumptions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STL is non-parametric — lets the data speak</a:t>
            </a:r>
            <a:endParaRPr lang="en-US" sz="800" dirty="0"/>
          </a:p>
        </p:txBody>
      </p:sp>
      <p:sp>
        <p:nvSpPr>
          <p:cNvPr id="20" name="Shape 18"/>
          <p:cNvSpPr/>
          <p:nvPr/>
        </p:nvSpPr>
        <p:spPr>
          <a:xfrm>
            <a:off x="274320" y="3657600"/>
            <a:ext cx="8686800" cy="1280160"/>
          </a:xfrm>
          <a:prstGeom prst="roundRect">
            <a:avLst>
              <a:gd name="adj" fmla="val 4286"/>
            </a:avLst>
          </a:prstGeom>
          <a:solidFill>
            <a:srgbClr val="151E2D"/>
          </a:solidFill>
          <a:ln w="6350">
            <a:solidFill>
              <a:srgbClr val="FBBF24"/>
            </a:solidFill>
            <a:prstDash val="solid"/>
          </a:ln>
        </p:spPr>
      </p:sp>
      <p:sp>
        <p:nvSpPr>
          <p:cNvPr id="21" name="Text 19"/>
          <p:cNvSpPr/>
          <p:nvPr/>
        </p:nvSpPr>
        <p:spPr>
          <a:xfrm>
            <a:off x="365760" y="3703320"/>
            <a:ext cx="850392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WHERE THIS FITS IN THE BIGGER STORY</a:t>
            </a:r>
            <a:endParaRPr lang="en-US" sz="900" dirty="0"/>
          </a:p>
        </p:txBody>
      </p:sp>
      <p:sp>
        <p:nvSpPr>
          <p:cNvPr id="22" name="Text 20"/>
          <p:cNvSpPr/>
          <p:nvPr/>
        </p:nvSpPr>
        <p:spPr>
          <a:xfrm>
            <a:off x="365760" y="3959352"/>
            <a:ext cx="8503920" cy="93268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The 85.8% trend dominance proves UAE inflation is driven by STRUCTURAL economic forces (housing supply, oil shocks, policy changes) — NOT by calendar patterns like Ramadan, summer cooling costs, or school terms. This justifies our entire analytical approach: we focus on structural breaks and sector dynamics rather than seasonal adjustment. It also means simple seasonal forecasting models would fail for UAE CPI.</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Used in: PPT Slide 7 (methods), Speaker 4 script ('STL shows &gt;95% trend-dominated'), Notebook Cell 8, Dashboard Seasonal tab (showing the tiny seasonal effect)</a:t>
            </a:r>
            <a:endParaRPr lang="en-US" sz="800" dirty="0"/>
          </a:p>
        </p:txBody>
      </p:sp>
      <p:sp>
        <p:nvSpPr>
          <p:cNvPr id="23" name="Text 21"/>
          <p:cNvSpPr/>
          <p:nvPr/>
        </p:nvSpPr>
        <p:spPr>
          <a:xfrm>
            <a:off x="8321040" y="4892040"/>
            <a:ext cx="640080" cy="182880"/>
          </a:xfrm>
          <a:prstGeom prst="rect">
            <a:avLst/>
          </a:prstGeom>
          <a:noFill/>
          <a:ln/>
        </p:spPr>
        <p:txBody>
          <a:bodyPr wrap="square" rtlCol="0" anchor="ctr"/>
          <a:lstStyle/>
          <a:p>
            <a:pPr algn="r" indent="0" marL="0">
              <a:buNone/>
            </a:pPr>
            <a:r>
              <a:rPr lang="en-US" sz="800" dirty="0">
                <a:solidFill>
                  <a:srgbClr val="8896AB"/>
                </a:solidFill>
                <a:latin typeface="Arial" pitchFamily="34" charset="0"/>
                <a:ea typeface="Arial" pitchFamily="34" charset="-122"/>
                <a:cs typeface="Arial" pitchFamily="34" charset="-120"/>
              </a:rPr>
              <a:t>3 / 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274320" y="182880"/>
            <a:ext cx="411480" cy="411480"/>
          </a:xfrm>
          <a:prstGeom prst="ellipse">
            <a:avLst/>
          </a:prstGeom>
          <a:solidFill>
            <a:srgbClr val="A78BFA"/>
          </a:solidFill>
          <a:ln/>
        </p:spPr>
      </p:sp>
      <p:sp>
        <p:nvSpPr>
          <p:cNvPr id="3" name="Text 1"/>
          <p:cNvSpPr/>
          <p:nvPr/>
        </p:nvSpPr>
        <p:spPr>
          <a:xfrm>
            <a:off x="274320" y="182880"/>
            <a:ext cx="411480" cy="411480"/>
          </a:xfrm>
          <a:prstGeom prst="rect">
            <a:avLst/>
          </a:prstGeom>
          <a:noFill/>
          <a:ln/>
        </p:spPr>
        <p:txBody>
          <a:bodyPr wrap="square" rtlCol="0" anchor="ctr"/>
          <a:lstStyle/>
          <a:p>
            <a:pPr algn="ctr" indent="0" marL="0">
              <a:buNone/>
            </a:pPr>
            <a:r>
              <a:rPr lang="en-US" sz="1800" b="1" dirty="0">
                <a:solidFill>
                  <a:srgbClr val="0F1419"/>
                </a:solidFill>
                <a:latin typeface="Arial" pitchFamily="34" charset="0"/>
                <a:ea typeface="Arial" pitchFamily="34" charset="-122"/>
                <a:cs typeface="Arial" pitchFamily="34" charset="-120"/>
              </a:rPr>
              <a:t>3</a:t>
            </a:r>
            <a:endParaRPr lang="en-US" sz="1800" dirty="0"/>
          </a:p>
        </p:txBody>
      </p:sp>
      <p:sp>
        <p:nvSpPr>
          <p:cNvPr id="4" name="Text 2"/>
          <p:cNvSpPr/>
          <p:nvPr/>
        </p:nvSpPr>
        <p:spPr>
          <a:xfrm>
            <a:off x="822960" y="201168"/>
            <a:ext cx="5486400" cy="365760"/>
          </a:xfrm>
          <a:prstGeom prst="rect">
            <a:avLst/>
          </a:prstGeom>
          <a:noFill/>
          <a:ln/>
        </p:spPr>
        <p:txBody>
          <a:bodyPr wrap="square" rtlCol="0" anchor="ctr"/>
          <a:lstStyle/>
          <a:p>
            <a:pPr indent="0" marL="0">
              <a:buNone/>
            </a:pPr>
            <a:r>
              <a:rPr lang="en-US" sz="2000" b="1" dirty="0">
                <a:solidFill>
                  <a:srgbClr val="A78BFA"/>
                </a:solidFill>
                <a:latin typeface="Georgia" pitchFamily="34" charset="0"/>
                <a:ea typeface="Georgia" pitchFamily="34" charset="-122"/>
                <a:cs typeface="Georgia" pitchFamily="34" charset="-120"/>
              </a:rPr>
              <a:t>Granger Causality Tests</a:t>
            </a:r>
            <a:endParaRPr lang="en-US" sz="2000" dirty="0"/>
          </a:p>
        </p:txBody>
      </p:sp>
      <p:sp>
        <p:nvSpPr>
          <p:cNvPr id="5" name="Text 3"/>
          <p:cNvSpPr/>
          <p:nvPr/>
        </p:nvSpPr>
        <p:spPr>
          <a:xfrm>
            <a:off x="822960" y="521208"/>
            <a:ext cx="5486400" cy="182880"/>
          </a:xfrm>
          <a:prstGeom prst="rect">
            <a:avLst/>
          </a:prstGeom>
          <a:noFill/>
          <a:ln/>
        </p:spPr>
        <p:txBody>
          <a:bodyPr wrap="square" rtlCol="0" anchor="ctr"/>
          <a:lstStyle/>
          <a:p>
            <a:pPr indent="0" marL="0">
              <a:buNone/>
            </a:pPr>
            <a:r>
              <a:rPr lang="en-US" sz="1000" dirty="0">
                <a:solidFill>
                  <a:srgbClr val="8896AB"/>
                </a:solidFill>
                <a:latin typeface="Arial" pitchFamily="34" charset="0"/>
                <a:ea typeface="Arial" pitchFamily="34" charset="-122"/>
                <a:cs typeface="Arial" pitchFamily="34" charset="-120"/>
              </a:rPr>
              <a:t>Which sectors PREDICT headline inflation before it moves?</a:t>
            </a:r>
            <a:endParaRPr lang="en-US" sz="1000" dirty="0"/>
          </a:p>
        </p:txBody>
      </p:sp>
      <p:sp>
        <p:nvSpPr>
          <p:cNvPr id="6" name="Shape 4"/>
          <p:cNvSpPr/>
          <p:nvPr/>
        </p:nvSpPr>
        <p:spPr>
          <a:xfrm>
            <a:off x="274320" y="822960"/>
            <a:ext cx="2560320" cy="1097280"/>
          </a:xfrm>
          <a:prstGeom prst="roundRect">
            <a:avLst>
              <a:gd name="adj" fmla="val 5000"/>
            </a:avLst>
          </a:prstGeom>
          <a:solidFill>
            <a:srgbClr val="151E2D"/>
          </a:solidFill>
          <a:ln w="6350">
            <a:solidFill>
              <a:srgbClr val="22D3EE"/>
            </a:solidFill>
            <a:prstDash val="solid"/>
          </a:ln>
        </p:spPr>
      </p:sp>
      <p:sp>
        <p:nvSpPr>
          <p:cNvPr id="7" name="Text 5"/>
          <p:cNvSpPr/>
          <p:nvPr/>
        </p:nvSpPr>
        <p:spPr>
          <a:xfrm>
            <a:off x="365760" y="868680"/>
            <a:ext cx="2377440" cy="274320"/>
          </a:xfrm>
          <a:prstGeom prst="rect">
            <a:avLst/>
          </a:prstGeom>
          <a:noFill/>
          <a:ln/>
        </p:spPr>
        <p:txBody>
          <a:bodyPr wrap="square" rtlCol="0" anchor="ctr"/>
          <a:lstStyle/>
          <a:p>
            <a:pPr indent="0" marL="0">
              <a:buNone/>
            </a:pPr>
            <a:r>
              <a:rPr lang="en-US" sz="900" b="1" dirty="0">
                <a:solidFill>
                  <a:srgbClr val="22D3EE"/>
                </a:solidFill>
                <a:latin typeface="Arial" pitchFamily="34" charset="0"/>
                <a:ea typeface="Arial" pitchFamily="34" charset="-122"/>
                <a:cs typeface="Arial" pitchFamily="34" charset="-120"/>
              </a:rPr>
              <a:t>INPUT</a:t>
            </a:r>
            <a:endParaRPr lang="en-US" sz="900" dirty="0"/>
          </a:p>
        </p:txBody>
      </p:sp>
      <p:sp>
        <p:nvSpPr>
          <p:cNvPr id="8" name="Text 6"/>
          <p:cNvSpPr/>
          <p:nvPr/>
        </p:nvSpPr>
        <p:spPr>
          <a:xfrm>
            <a:off x="365760" y="1124712"/>
            <a:ext cx="237744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Monthly MoM % changes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83 months (2014–2020)</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Each sector vs All Items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Tests lags of 1, 2, 3 months</a:t>
            </a:r>
            <a:endParaRPr lang="en-US" sz="800" dirty="0"/>
          </a:p>
        </p:txBody>
      </p:sp>
      <p:sp>
        <p:nvSpPr>
          <p:cNvPr id="9" name="Shape 7"/>
          <p:cNvSpPr/>
          <p:nvPr/>
        </p:nvSpPr>
        <p:spPr>
          <a:xfrm>
            <a:off x="3017520" y="822960"/>
            <a:ext cx="3383280" cy="1097280"/>
          </a:xfrm>
          <a:prstGeom prst="roundRect">
            <a:avLst>
              <a:gd name="adj" fmla="val 5000"/>
            </a:avLst>
          </a:prstGeom>
          <a:solidFill>
            <a:srgbClr val="151E2D"/>
          </a:solidFill>
          <a:ln w="6350">
            <a:solidFill>
              <a:srgbClr val="FBBF24"/>
            </a:solidFill>
            <a:prstDash val="solid"/>
          </a:ln>
        </p:spPr>
      </p:sp>
      <p:sp>
        <p:nvSpPr>
          <p:cNvPr id="10" name="Text 8"/>
          <p:cNvSpPr/>
          <p:nvPr/>
        </p:nvSpPr>
        <p:spPr>
          <a:xfrm>
            <a:off x="3108960" y="868680"/>
            <a:ext cx="320040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METHOD: F-test Granger Causality</a:t>
            </a:r>
            <a:endParaRPr lang="en-US" sz="900" dirty="0"/>
          </a:p>
        </p:txBody>
      </p:sp>
      <p:sp>
        <p:nvSpPr>
          <p:cNvPr id="11" name="Text 9"/>
          <p:cNvSpPr/>
          <p:nvPr/>
        </p:nvSpPr>
        <p:spPr>
          <a:xfrm>
            <a:off x="3108960" y="1124712"/>
            <a:ext cx="320040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H₀: past values of Sector do NOT help predict CPI</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H₁: past values of Sector DO predict CPI</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Compares two models: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Model 1: CPI(t) = f(CPI(t-1), CPI(t-2))</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Model 2: CPI(t) = f(CPI(t-1), CPI(t-2), Sector(t-1), Sector(t-2))</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If Model 2 is significantly better → sector 'Granger-causes' CPI</a:t>
            </a:r>
            <a:endParaRPr lang="en-US" sz="800" dirty="0"/>
          </a:p>
        </p:txBody>
      </p:sp>
      <p:sp>
        <p:nvSpPr>
          <p:cNvPr id="12" name="Shape 10"/>
          <p:cNvSpPr/>
          <p:nvPr/>
        </p:nvSpPr>
        <p:spPr>
          <a:xfrm>
            <a:off x="6583680" y="822960"/>
            <a:ext cx="2377440" cy="1097280"/>
          </a:xfrm>
          <a:prstGeom prst="roundRect">
            <a:avLst>
              <a:gd name="adj" fmla="val 5000"/>
            </a:avLst>
          </a:prstGeom>
          <a:solidFill>
            <a:srgbClr val="151E2D"/>
          </a:solidFill>
          <a:ln w="6350">
            <a:solidFill>
              <a:srgbClr val="4ADE80"/>
            </a:solidFill>
            <a:prstDash val="solid"/>
          </a:ln>
        </p:spPr>
      </p:sp>
      <p:sp>
        <p:nvSpPr>
          <p:cNvPr id="13" name="Text 11"/>
          <p:cNvSpPr/>
          <p:nvPr/>
        </p:nvSpPr>
        <p:spPr>
          <a:xfrm>
            <a:off x="6675120" y="868680"/>
            <a:ext cx="2194560" cy="274320"/>
          </a:xfrm>
          <a:prstGeom prst="rect">
            <a:avLst/>
          </a:prstGeom>
          <a:noFill/>
          <a:ln/>
        </p:spPr>
        <p:txBody>
          <a:bodyPr wrap="square" rtlCol="0" anchor="ctr"/>
          <a:lstStyle/>
          <a:p>
            <a:pPr indent="0" marL="0">
              <a:buNone/>
            </a:pPr>
            <a:r>
              <a:rPr lang="en-US" sz="900" b="1" dirty="0">
                <a:solidFill>
                  <a:srgbClr val="4ADE80"/>
                </a:solidFill>
                <a:latin typeface="Arial" pitchFamily="34" charset="0"/>
                <a:ea typeface="Arial" pitchFamily="34" charset="-122"/>
                <a:cs typeface="Arial" pitchFamily="34" charset="-120"/>
              </a:rPr>
              <a:t>OUTPUT</a:t>
            </a:r>
            <a:endParaRPr lang="en-US" sz="900" dirty="0"/>
          </a:p>
        </p:txBody>
      </p:sp>
      <p:sp>
        <p:nvSpPr>
          <p:cNvPr id="14" name="Text 12"/>
          <p:cNvSpPr/>
          <p:nvPr/>
        </p:nvSpPr>
        <p:spPr>
          <a:xfrm>
            <a:off x="6675120" y="1124712"/>
            <a:ext cx="219456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Housing: p=0.036 ✅</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Textiles: p=0.014 ✅</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Restaurants: p=0.031 ✅</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Transport: p=0.070 ❌</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p &lt; 0.05 = significant</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at 95% confidence</a:t>
            </a:r>
            <a:endParaRPr lang="en-US" sz="800" dirty="0"/>
          </a:p>
        </p:txBody>
      </p:sp>
      <p:sp>
        <p:nvSpPr>
          <p:cNvPr id="15" name="Shape 13"/>
          <p:cNvSpPr/>
          <p:nvPr/>
        </p:nvSpPr>
        <p:spPr>
          <a:xfrm>
            <a:off x="274320" y="2057400"/>
            <a:ext cx="4846320" cy="1325880"/>
          </a:xfrm>
          <a:prstGeom prst="roundRect">
            <a:avLst>
              <a:gd name="adj" fmla="val 4138"/>
            </a:avLst>
          </a:prstGeom>
          <a:solidFill>
            <a:srgbClr val="0D1117"/>
          </a:solidFill>
          <a:ln/>
        </p:spPr>
      </p:sp>
      <p:sp>
        <p:nvSpPr>
          <p:cNvPr id="16" name="Text 14"/>
          <p:cNvSpPr/>
          <p:nvPr/>
        </p:nvSpPr>
        <p:spPr>
          <a:xfrm>
            <a:off x="365760" y="2057400"/>
            <a:ext cx="4663440" cy="1325880"/>
          </a:xfrm>
          <a:prstGeom prst="rect">
            <a:avLst/>
          </a:prstGeom>
          <a:noFill/>
          <a:ln/>
        </p:spPr>
        <p:txBody>
          <a:bodyPr wrap="square" rtlCol="0" anchor="t"/>
          <a:lstStyle/>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from statsmodels.tsa.stattools import grangercausalitytests</a:t>
            </a:r>
            <a:endParaRPr lang="en-US" sz="800" dirty="0"/>
          </a:p>
          <a:p>
            <a:pPr indent="0" marL="0">
              <a:lnSpc>
                <a:spcPct val="130000"/>
              </a:lnSpc>
              <a:buNone/>
            </a:pP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test_data = pd.DataFrame({'ALL': all_mom, 'HOU': hou_mom}).dropna()</a:t>
            </a:r>
            <a:endParaRPr lang="en-US" sz="800" dirty="0"/>
          </a:p>
          <a:p>
            <a:pPr indent="0" marL="0">
              <a:lnSpc>
                <a:spcPct val="130000"/>
              </a:lnSpc>
              <a:buNone/>
            </a:pP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results = grangercausalitytests(</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test_data[['ALL', 'HOU']],</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maxlag=3,          # test 1, 2, 3 month lags</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verbose=False</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results[lag][0]['ssr_ftest'][1]  → p-value for that lag</a:t>
            </a:r>
            <a:endParaRPr lang="en-US" sz="800" dirty="0"/>
          </a:p>
        </p:txBody>
      </p:sp>
      <p:sp>
        <p:nvSpPr>
          <p:cNvPr id="17" name="Shape 15"/>
          <p:cNvSpPr/>
          <p:nvPr/>
        </p:nvSpPr>
        <p:spPr>
          <a:xfrm>
            <a:off x="5303520" y="2057400"/>
            <a:ext cx="3657600" cy="1325880"/>
          </a:xfrm>
          <a:prstGeom prst="roundRect">
            <a:avLst>
              <a:gd name="adj" fmla="val 4138"/>
            </a:avLst>
          </a:prstGeom>
          <a:solidFill>
            <a:srgbClr val="151E2D"/>
          </a:solidFill>
          <a:ln w="6350">
            <a:solidFill>
              <a:srgbClr val="A78BFA"/>
            </a:solidFill>
            <a:prstDash val="solid"/>
          </a:ln>
        </p:spPr>
      </p:sp>
      <p:sp>
        <p:nvSpPr>
          <p:cNvPr id="18" name="Text 16"/>
          <p:cNvSpPr/>
          <p:nvPr/>
        </p:nvSpPr>
        <p:spPr>
          <a:xfrm>
            <a:off x="5394960" y="2103120"/>
            <a:ext cx="3474720" cy="27432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WHY GRANGER CAUSALITY?</a:t>
            </a:r>
            <a:endParaRPr lang="en-US" sz="900" dirty="0"/>
          </a:p>
        </p:txBody>
      </p:sp>
      <p:sp>
        <p:nvSpPr>
          <p:cNvPr id="19" name="Text 17"/>
          <p:cNvSpPr/>
          <p:nvPr/>
        </p:nvSpPr>
        <p:spPr>
          <a:xfrm>
            <a:off x="5394960" y="2359152"/>
            <a:ext cx="3474720" cy="9784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 Standard econometric test for temporal prediction</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Requires STATIONARY data (MoM changes, not levels)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Tests statistical significance, not just correlation</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Null hypothesis framing means we only claim 'leads' when evidence is strong (p&lt;0.05)</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Used by central banks worldwide for policy indicators</a:t>
            </a:r>
            <a:endParaRPr lang="en-US" sz="800" dirty="0"/>
          </a:p>
        </p:txBody>
      </p:sp>
      <p:sp>
        <p:nvSpPr>
          <p:cNvPr id="20" name="Shape 18"/>
          <p:cNvSpPr/>
          <p:nvPr/>
        </p:nvSpPr>
        <p:spPr>
          <a:xfrm>
            <a:off x="274320" y="3520440"/>
            <a:ext cx="8686800" cy="1417320"/>
          </a:xfrm>
          <a:prstGeom prst="roundRect">
            <a:avLst>
              <a:gd name="adj" fmla="val 3871"/>
            </a:avLst>
          </a:prstGeom>
          <a:solidFill>
            <a:srgbClr val="151E2D"/>
          </a:solidFill>
          <a:ln w="6350">
            <a:solidFill>
              <a:srgbClr val="FBBF24"/>
            </a:solidFill>
            <a:prstDash val="solid"/>
          </a:ln>
        </p:spPr>
      </p:sp>
      <p:sp>
        <p:nvSpPr>
          <p:cNvPr id="21" name="Text 19"/>
          <p:cNvSpPr/>
          <p:nvPr/>
        </p:nvSpPr>
        <p:spPr>
          <a:xfrm>
            <a:off x="365760" y="3566160"/>
            <a:ext cx="850392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WHERE THIS FITS IN THE BIGGER STORY</a:t>
            </a:r>
            <a:endParaRPr lang="en-US" sz="900" dirty="0"/>
          </a:p>
        </p:txBody>
      </p:sp>
      <p:sp>
        <p:nvSpPr>
          <p:cNvPr id="22" name="Text 20"/>
          <p:cNvSpPr/>
          <p:nvPr/>
        </p:nvSpPr>
        <p:spPr>
          <a:xfrm>
            <a:off x="365760" y="3822192"/>
            <a:ext cx="8503920" cy="106984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Housing Granger-causes headline CPI at lag 3 (p=0.036) — meaning a housing inflation change TODAY predicts headline CPI will follow in ~3 months. This transforms Housing from just 'the biggest sector' into a genuine LEADING INDICATOR. Policymakers should watch real estate as an early warning system.</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Transport does NOT Granger-cause CPI (p=0.07) — it's coincident because oil price changes hit both simultaneously. This explains the Jul 2023 base-effect anomaly: transport moved but CPI was already adjusting.</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Used in: PPT Slide 7 (Speaker 4: 'Housing leads by 1-2 months at p&lt;0.05'), Dashboard Tab 5 (root causes — Housing as leading indicator), Q&amp;A answer on policy recommendations</a:t>
            </a:r>
            <a:endParaRPr lang="en-US" sz="800" dirty="0"/>
          </a:p>
        </p:txBody>
      </p:sp>
      <p:sp>
        <p:nvSpPr>
          <p:cNvPr id="23" name="Text 21"/>
          <p:cNvSpPr/>
          <p:nvPr/>
        </p:nvSpPr>
        <p:spPr>
          <a:xfrm>
            <a:off x="8321040" y="4892040"/>
            <a:ext cx="640080" cy="182880"/>
          </a:xfrm>
          <a:prstGeom prst="rect">
            <a:avLst/>
          </a:prstGeom>
          <a:noFill/>
          <a:ln/>
        </p:spPr>
        <p:txBody>
          <a:bodyPr wrap="square" rtlCol="0" anchor="ctr"/>
          <a:lstStyle/>
          <a:p>
            <a:pPr algn="r" indent="0" marL="0">
              <a:buNone/>
            </a:pPr>
            <a:r>
              <a:rPr lang="en-US" sz="800" dirty="0">
                <a:solidFill>
                  <a:srgbClr val="8896AB"/>
                </a:solidFill>
                <a:latin typeface="Arial" pitchFamily="34" charset="0"/>
                <a:ea typeface="Arial" pitchFamily="34" charset="-122"/>
                <a:cs typeface="Arial" pitchFamily="34" charset="-120"/>
              </a:rPr>
              <a:t>4 / 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274320" y="182880"/>
            <a:ext cx="411480" cy="411480"/>
          </a:xfrm>
          <a:prstGeom prst="ellipse">
            <a:avLst/>
          </a:prstGeom>
          <a:solidFill>
            <a:srgbClr val="4ADE80"/>
          </a:solidFill>
          <a:ln/>
        </p:spPr>
      </p:sp>
      <p:sp>
        <p:nvSpPr>
          <p:cNvPr id="3" name="Text 1"/>
          <p:cNvSpPr/>
          <p:nvPr/>
        </p:nvSpPr>
        <p:spPr>
          <a:xfrm>
            <a:off x="274320" y="182880"/>
            <a:ext cx="411480" cy="411480"/>
          </a:xfrm>
          <a:prstGeom prst="rect">
            <a:avLst/>
          </a:prstGeom>
          <a:noFill/>
          <a:ln/>
        </p:spPr>
        <p:txBody>
          <a:bodyPr wrap="square" rtlCol="0" anchor="ctr"/>
          <a:lstStyle/>
          <a:p>
            <a:pPr algn="ctr" indent="0" marL="0">
              <a:buNone/>
            </a:pPr>
            <a:r>
              <a:rPr lang="en-US" sz="1800" b="1" dirty="0">
                <a:solidFill>
                  <a:srgbClr val="0F1419"/>
                </a:solidFill>
                <a:latin typeface="Arial" pitchFamily="34" charset="0"/>
                <a:ea typeface="Arial" pitchFamily="34" charset="-122"/>
                <a:cs typeface="Arial" pitchFamily="34" charset="-120"/>
              </a:rPr>
              <a:t>4</a:t>
            </a:r>
            <a:endParaRPr lang="en-US" sz="1800" dirty="0"/>
          </a:p>
        </p:txBody>
      </p:sp>
      <p:sp>
        <p:nvSpPr>
          <p:cNvPr id="4" name="Text 2"/>
          <p:cNvSpPr/>
          <p:nvPr/>
        </p:nvSpPr>
        <p:spPr>
          <a:xfrm>
            <a:off x="822960" y="201168"/>
            <a:ext cx="5486400" cy="365760"/>
          </a:xfrm>
          <a:prstGeom prst="rect">
            <a:avLst/>
          </a:prstGeom>
          <a:noFill/>
          <a:ln/>
        </p:spPr>
        <p:txBody>
          <a:bodyPr wrap="square" rtlCol="0" anchor="ctr"/>
          <a:lstStyle/>
          <a:p>
            <a:pPr indent="0" marL="0">
              <a:buNone/>
            </a:pPr>
            <a:r>
              <a:rPr lang="en-US" sz="2000" b="1" dirty="0">
                <a:solidFill>
                  <a:srgbClr val="4ADE80"/>
                </a:solidFill>
                <a:latin typeface="Georgia" pitchFamily="34" charset="0"/>
                <a:ea typeface="Georgia" pitchFamily="34" charset="-122"/>
                <a:cs typeface="Georgia" pitchFamily="34" charset="-120"/>
              </a:rPr>
              <a:t>HDBSCAN Clustering</a:t>
            </a:r>
            <a:endParaRPr lang="en-US" sz="2000" dirty="0"/>
          </a:p>
        </p:txBody>
      </p:sp>
      <p:sp>
        <p:nvSpPr>
          <p:cNvPr id="5" name="Text 3"/>
          <p:cNvSpPr/>
          <p:nvPr/>
        </p:nvSpPr>
        <p:spPr>
          <a:xfrm>
            <a:off x="822960" y="521208"/>
            <a:ext cx="5486400" cy="182880"/>
          </a:xfrm>
          <a:prstGeom prst="rect">
            <a:avLst/>
          </a:prstGeom>
          <a:noFill/>
          <a:ln/>
        </p:spPr>
        <p:txBody>
          <a:bodyPr wrap="square" rtlCol="0" anchor="ctr"/>
          <a:lstStyle/>
          <a:p>
            <a:pPr indent="0" marL="0">
              <a:buNone/>
            </a:pPr>
            <a:r>
              <a:rPr lang="en-US" sz="1000" dirty="0">
                <a:solidFill>
                  <a:srgbClr val="8896AB"/>
                </a:solidFill>
                <a:latin typeface="Arial" pitchFamily="34" charset="0"/>
                <a:ea typeface="Arial" pitchFamily="34" charset="-122"/>
                <a:cs typeface="Arial" pitchFamily="34" charset="-120"/>
              </a:rPr>
              <a:t>Can an algorithm find economic eras WITHOUT being told they exist?</a:t>
            </a:r>
            <a:endParaRPr lang="en-US" sz="1000" dirty="0"/>
          </a:p>
        </p:txBody>
      </p:sp>
      <p:sp>
        <p:nvSpPr>
          <p:cNvPr id="6" name="Shape 4"/>
          <p:cNvSpPr/>
          <p:nvPr/>
        </p:nvSpPr>
        <p:spPr>
          <a:xfrm>
            <a:off x="274320" y="822960"/>
            <a:ext cx="2560320" cy="1097280"/>
          </a:xfrm>
          <a:prstGeom prst="roundRect">
            <a:avLst>
              <a:gd name="adj" fmla="val 5000"/>
            </a:avLst>
          </a:prstGeom>
          <a:solidFill>
            <a:srgbClr val="151E2D"/>
          </a:solidFill>
          <a:ln w="6350">
            <a:solidFill>
              <a:srgbClr val="22D3EE"/>
            </a:solidFill>
            <a:prstDash val="solid"/>
          </a:ln>
        </p:spPr>
      </p:sp>
      <p:sp>
        <p:nvSpPr>
          <p:cNvPr id="7" name="Text 5"/>
          <p:cNvSpPr/>
          <p:nvPr/>
        </p:nvSpPr>
        <p:spPr>
          <a:xfrm>
            <a:off x="365760" y="868680"/>
            <a:ext cx="2377440" cy="274320"/>
          </a:xfrm>
          <a:prstGeom prst="rect">
            <a:avLst/>
          </a:prstGeom>
          <a:noFill/>
          <a:ln/>
        </p:spPr>
        <p:txBody>
          <a:bodyPr wrap="square" rtlCol="0" anchor="ctr"/>
          <a:lstStyle/>
          <a:p>
            <a:pPr indent="0" marL="0">
              <a:buNone/>
            </a:pPr>
            <a:r>
              <a:rPr lang="en-US" sz="900" b="1" dirty="0">
                <a:solidFill>
                  <a:srgbClr val="22D3EE"/>
                </a:solidFill>
                <a:latin typeface="Arial" pitchFamily="34" charset="0"/>
                <a:ea typeface="Arial" pitchFamily="34" charset="-122"/>
                <a:cs typeface="Arial" pitchFamily="34" charset="-120"/>
              </a:rPr>
              <a:t>INPUT</a:t>
            </a:r>
            <a:endParaRPr lang="en-US" sz="900" dirty="0"/>
          </a:p>
        </p:txBody>
      </p:sp>
      <p:sp>
        <p:nvSpPr>
          <p:cNvPr id="8" name="Text 6"/>
          <p:cNvSpPr/>
          <p:nvPr/>
        </p:nvSpPr>
        <p:spPr>
          <a:xfrm>
            <a:off x="365760" y="1124712"/>
            <a:ext cx="237744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48 months × 13 sector features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Each month = a point in 13D space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Standardised (mean=0, std=1)</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so no sector dominates by scale</a:t>
            </a:r>
            <a:endParaRPr lang="en-US" sz="800" dirty="0"/>
          </a:p>
        </p:txBody>
      </p:sp>
      <p:sp>
        <p:nvSpPr>
          <p:cNvPr id="9" name="Shape 7"/>
          <p:cNvSpPr/>
          <p:nvPr/>
        </p:nvSpPr>
        <p:spPr>
          <a:xfrm>
            <a:off x="3017520" y="822960"/>
            <a:ext cx="3383280" cy="1097280"/>
          </a:xfrm>
          <a:prstGeom prst="roundRect">
            <a:avLst>
              <a:gd name="adj" fmla="val 5000"/>
            </a:avLst>
          </a:prstGeom>
          <a:solidFill>
            <a:srgbClr val="151E2D"/>
          </a:solidFill>
          <a:ln w="6350">
            <a:solidFill>
              <a:srgbClr val="FBBF24"/>
            </a:solidFill>
            <a:prstDash val="solid"/>
          </a:ln>
        </p:spPr>
      </p:sp>
      <p:sp>
        <p:nvSpPr>
          <p:cNvPr id="10" name="Text 8"/>
          <p:cNvSpPr/>
          <p:nvPr/>
        </p:nvSpPr>
        <p:spPr>
          <a:xfrm>
            <a:off x="3108960" y="868680"/>
            <a:ext cx="320040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METHOD: HDBSCAN</a:t>
            </a:r>
            <a:endParaRPr lang="en-US" sz="900" dirty="0"/>
          </a:p>
        </p:txBody>
      </p:sp>
      <p:sp>
        <p:nvSpPr>
          <p:cNvPr id="11" name="Text 9"/>
          <p:cNvSpPr/>
          <p:nvPr/>
        </p:nvSpPr>
        <p:spPr>
          <a:xfrm>
            <a:off x="3108960" y="1124712"/>
            <a:ext cx="320040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Hierarchical Density-Based Spatial Clustering</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Finds clusters of arbitrary shape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Does NOT need number of clusters specified</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Labels low-density points as noise (-1)</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min_cluster_size=8 (need 8+ months to form era)</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Unlike K-Means: handles non-spherical, variable density</a:t>
            </a:r>
            <a:endParaRPr lang="en-US" sz="800" dirty="0"/>
          </a:p>
        </p:txBody>
      </p:sp>
      <p:sp>
        <p:nvSpPr>
          <p:cNvPr id="12" name="Shape 10"/>
          <p:cNvSpPr/>
          <p:nvPr/>
        </p:nvSpPr>
        <p:spPr>
          <a:xfrm>
            <a:off x="6583680" y="822960"/>
            <a:ext cx="2377440" cy="1097280"/>
          </a:xfrm>
          <a:prstGeom prst="roundRect">
            <a:avLst>
              <a:gd name="adj" fmla="val 5000"/>
            </a:avLst>
          </a:prstGeom>
          <a:solidFill>
            <a:srgbClr val="151E2D"/>
          </a:solidFill>
          <a:ln w="6350">
            <a:solidFill>
              <a:srgbClr val="4ADE80"/>
            </a:solidFill>
            <a:prstDash val="solid"/>
          </a:ln>
        </p:spPr>
      </p:sp>
      <p:sp>
        <p:nvSpPr>
          <p:cNvPr id="13" name="Text 11"/>
          <p:cNvSpPr/>
          <p:nvPr/>
        </p:nvSpPr>
        <p:spPr>
          <a:xfrm>
            <a:off x="6675120" y="868680"/>
            <a:ext cx="2194560" cy="274320"/>
          </a:xfrm>
          <a:prstGeom prst="rect">
            <a:avLst/>
          </a:prstGeom>
          <a:noFill/>
          <a:ln/>
        </p:spPr>
        <p:txBody>
          <a:bodyPr wrap="square" rtlCol="0" anchor="ctr"/>
          <a:lstStyle/>
          <a:p>
            <a:pPr indent="0" marL="0">
              <a:buNone/>
            </a:pPr>
            <a:r>
              <a:rPr lang="en-US" sz="900" b="1" dirty="0">
                <a:solidFill>
                  <a:srgbClr val="4ADE80"/>
                </a:solidFill>
                <a:latin typeface="Arial" pitchFamily="34" charset="0"/>
                <a:ea typeface="Arial" pitchFamily="34" charset="-122"/>
                <a:cs typeface="Arial" pitchFamily="34" charset="-120"/>
              </a:rPr>
              <a:t>OUTPUT</a:t>
            </a:r>
            <a:endParaRPr lang="en-US" sz="900" dirty="0"/>
          </a:p>
        </p:txBody>
      </p:sp>
      <p:sp>
        <p:nvSpPr>
          <p:cNvPr id="14" name="Text 12"/>
          <p:cNvSpPr/>
          <p:nvPr/>
        </p:nvSpPr>
        <p:spPr>
          <a:xfrm>
            <a:off x="6675120" y="1124712"/>
            <a:ext cx="219456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2 clusters found</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+ 9 noise points</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Clusters map to:</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Post-shock moderation</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2025 two-speed era</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Noise = transition months</a:t>
            </a:r>
            <a:endParaRPr lang="en-US" sz="800" dirty="0"/>
          </a:p>
        </p:txBody>
      </p:sp>
      <p:sp>
        <p:nvSpPr>
          <p:cNvPr id="15" name="Shape 13"/>
          <p:cNvSpPr/>
          <p:nvPr/>
        </p:nvSpPr>
        <p:spPr>
          <a:xfrm>
            <a:off x="274320" y="2057400"/>
            <a:ext cx="4846320" cy="1417320"/>
          </a:xfrm>
          <a:prstGeom prst="roundRect">
            <a:avLst>
              <a:gd name="adj" fmla="val 3871"/>
            </a:avLst>
          </a:prstGeom>
          <a:solidFill>
            <a:srgbClr val="0D1117"/>
          </a:solidFill>
          <a:ln/>
        </p:spPr>
      </p:sp>
      <p:sp>
        <p:nvSpPr>
          <p:cNvPr id="16" name="Text 14"/>
          <p:cNvSpPr/>
          <p:nvPr/>
        </p:nvSpPr>
        <p:spPr>
          <a:xfrm>
            <a:off x="365760" y="2057400"/>
            <a:ext cx="4663440" cy="1417320"/>
          </a:xfrm>
          <a:prstGeom prst="rect">
            <a:avLst/>
          </a:prstGeom>
          <a:noFill/>
          <a:ln/>
        </p:spPr>
        <p:txBody>
          <a:bodyPr wrap="square" rtlCol="0" anchor="t"/>
          <a:lstStyle/>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from sklearn.preprocessing import StandardScaler</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import hdbscan</a:t>
            </a:r>
            <a:endParaRPr lang="en-US" sz="800" dirty="0"/>
          </a:p>
          <a:p>
            <a:pPr indent="0" marL="0">
              <a:lnSpc>
                <a:spcPct val="130000"/>
              </a:lnSpc>
              <a:buNone/>
            </a:pP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Standardise so Housing (range 17pp) doesn't dominate</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over Communications (range 3pp)</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scaler = StandardScaler()</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X_scaled = scaler.fit_transform(sector_data)  # mean=0, std=1</a:t>
            </a:r>
            <a:endParaRPr lang="en-US" sz="800" dirty="0"/>
          </a:p>
          <a:p>
            <a:pPr indent="0" marL="0">
              <a:lnSpc>
                <a:spcPct val="130000"/>
              </a:lnSpc>
              <a:buNone/>
            </a:pP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clusterer = hdbscan.HDBSCAN(</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min_cluster_size=8,   # min months to form a 'regime'</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min_samples=3          # sensitivity to noise</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labels = clusterer.fit_predict(X_scaled)</a:t>
            </a:r>
            <a:endParaRPr lang="en-US" sz="800" dirty="0"/>
          </a:p>
        </p:txBody>
      </p:sp>
      <p:sp>
        <p:nvSpPr>
          <p:cNvPr id="17" name="Shape 15"/>
          <p:cNvSpPr/>
          <p:nvPr/>
        </p:nvSpPr>
        <p:spPr>
          <a:xfrm>
            <a:off x="5303520" y="2057400"/>
            <a:ext cx="3657600" cy="1417320"/>
          </a:xfrm>
          <a:prstGeom prst="roundRect">
            <a:avLst>
              <a:gd name="adj" fmla="val 3871"/>
            </a:avLst>
          </a:prstGeom>
          <a:solidFill>
            <a:srgbClr val="151E2D"/>
          </a:solidFill>
          <a:ln w="6350">
            <a:solidFill>
              <a:srgbClr val="A78BFA"/>
            </a:solidFill>
            <a:prstDash val="solid"/>
          </a:ln>
        </p:spPr>
      </p:sp>
      <p:sp>
        <p:nvSpPr>
          <p:cNvPr id="18" name="Text 16"/>
          <p:cNvSpPr/>
          <p:nvPr/>
        </p:nvSpPr>
        <p:spPr>
          <a:xfrm>
            <a:off x="5394960" y="2103120"/>
            <a:ext cx="3474720" cy="27432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WHY HDBSCAN (not K-Means)?</a:t>
            </a:r>
            <a:endParaRPr lang="en-US" sz="900" dirty="0"/>
          </a:p>
        </p:txBody>
      </p:sp>
      <p:sp>
        <p:nvSpPr>
          <p:cNvPr id="19" name="Text 17"/>
          <p:cNvSpPr/>
          <p:nvPr/>
        </p:nvSpPr>
        <p:spPr>
          <a:xfrm>
            <a:off x="5394960" y="2359152"/>
            <a:ext cx="3474720" cy="106984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 K-Means needs K specified → we'd be assuming eras exist</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HDBSCAN finds K automatically from density structure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Economic regimes aren't spherical clusters — they have irregular shapes in 13D space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Noise detection is crucial: transition months (like VAT month) shouldn't be forced into a cluster</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It's the standard for exploratory regime detection</a:t>
            </a:r>
            <a:endParaRPr lang="en-US" sz="800" dirty="0"/>
          </a:p>
        </p:txBody>
      </p:sp>
      <p:sp>
        <p:nvSpPr>
          <p:cNvPr id="20" name="Shape 18"/>
          <p:cNvSpPr/>
          <p:nvPr/>
        </p:nvSpPr>
        <p:spPr>
          <a:xfrm>
            <a:off x="274320" y="3657600"/>
            <a:ext cx="8686800" cy="1280160"/>
          </a:xfrm>
          <a:prstGeom prst="roundRect">
            <a:avLst>
              <a:gd name="adj" fmla="val 4286"/>
            </a:avLst>
          </a:prstGeom>
          <a:solidFill>
            <a:srgbClr val="151E2D"/>
          </a:solidFill>
          <a:ln w="6350">
            <a:solidFill>
              <a:srgbClr val="FBBF24"/>
            </a:solidFill>
            <a:prstDash val="solid"/>
          </a:ln>
        </p:spPr>
      </p:sp>
      <p:sp>
        <p:nvSpPr>
          <p:cNvPr id="21" name="Text 19"/>
          <p:cNvSpPr/>
          <p:nvPr/>
        </p:nvSpPr>
        <p:spPr>
          <a:xfrm>
            <a:off x="365760" y="3703320"/>
            <a:ext cx="850392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WHERE THIS FITS IN THE BIGGER STORY</a:t>
            </a:r>
            <a:endParaRPr lang="en-US" sz="900" dirty="0"/>
          </a:p>
        </p:txBody>
      </p:sp>
      <p:sp>
        <p:nvSpPr>
          <p:cNvPr id="22" name="Text 20"/>
          <p:cNvSpPr/>
          <p:nvPr/>
        </p:nvSpPr>
        <p:spPr>
          <a:xfrm>
            <a:off x="365760" y="3959352"/>
            <a:ext cx="8503920" cy="93268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The fact that an UNSUPERVISED algorithm — given only raw sector inflation numbers with no dates, no labels, no guidance — independently discovers clusters that map to the economic eras we identified narratively is powerful validation. It proves our 'four eras' story isn't just storytelling — it's a real structural pattern in the data. This is the strongest methodological evidence that UAE inflation has distinct regimes.</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Used in: PPT Slide 7 (Speaker 4: 'HDBSCAN clusters match eras exactly — unsupervised'), Notebook Cells 16-17, Dashboard overview Tab 2 (structural breaks validation)</a:t>
            </a:r>
            <a:endParaRPr lang="en-US" sz="800" dirty="0"/>
          </a:p>
        </p:txBody>
      </p:sp>
      <p:sp>
        <p:nvSpPr>
          <p:cNvPr id="23" name="Text 21"/>
          <p:cNvSpPr/>
          <p:nvPr/>
        </p:nvSpPr>
        <p:spPr>
          <a:xfrm>
            <a:off x="8321040" y="4892040"/>
            <a:ext cx="640080" cy="182880"/>
          </a:xfrm>
          <a:prstGeom prst="rect">
            <a:avLst/>
          </a:prstGeom>
          <a:noFill/>
          <a:ln/>
        </p:spPr>
        <p:txBody>
          <a:bodyPr wrap="square" rtlCol="0" anchor="ctr"/>
          <a:lstStyle/>
          <a:p>
            <a:pPr algn="r" indent="0" marL="0">
              <a:buNone/>
            </a:pPr>
            <a:r>
              <a:rPr lang="en-US" sz="800" dirty="0">
                <a:solidFill>
                  <a:srgbClr val="8896AB"/>
                </a:solidFill>
                <a:latin typeface="Arial" pitchFamily="34" charset="0"/>
                <a:ea typeface="Arial" pitchFamily="34" charset="-122"/>
                <a:cs typeface="Arial" pitchFamily="34" charset="-120"/>
              </a:rPr>
              <a:t>5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274320" y="182880"/>
            <a:ext cx="411480" cy="411480"/>
          </a:xfrm>
          <a:prstGeom prst="ellipse">
            <a:avLst/>
          </a:prstGeom>
          <a:solidFill>
            <a:srgbClr val="22D3EE"/>
          </a:solidFill>
          <a:ln/>
        </p:spPr>
      </p:sp>
      <p:sp>
        <p:nvSpPr>
          <p:cNvPr id="3" name="Text 1"/>
          <p:cNvSpPr/>
          <p:nvPr/>
        </p:nvSpPr>
        <p:spPr>
          <a:xfrm>
            <a:off x="274320" y="182880"/>
            <a:ext cx="411480" cy="411480"/>
          </a:xfrm>
          <a:prstGeom prst="rect">
            <a:avLst/>
          </a:prstGeom>
          <a:noFill/>
          <a:ln/>
        </p:spPr>
        <p:txBody>
          <a:bodyPr wrap="square" rtlCol="0" anchor="ctr"/>
          <a:lstStyle/>
          <a:p>
            <a:pPr algn="ctr" indent="0" marL="0">
              <a:buNone/>
            </a:pPr>
            <a:r>
              <a:rPr lang="en-US" sz="1800" b="1" dirty="0">
                <a:solidFill>
                  <a:srgbClr val="0F1419"/>
                </a:solidFill>
                <a:latin typeface="Arial" pitchFamily="34" charset="0"/>
                <a:ea typeface="Arial" pitchFamily="34" charset="-122"/>
                <a:cs typeface="Arial" pitchFamily="34" charset="-120"/>
              </a:rPr>
              <a:t>5</a:t>
            </a:r>
            <a:endParaRPr lang="en-US" sz="1800" dirty="0"/>
          </a:p>
        </p:txBody>
      </p:sp>
      <p:sp>
        <p:nvSpPr>
          <p:cNvPr id="4" name="Text 2"/>
          <p:cNvSpPr/>
          <p:nvPr/>
        </p:nvSpPr>
        <p:spPr>
          <a:xfrm>
            <a:off x="822960" y="201168"/>
            <a:ext cx="5486400" cy="365760"/>
          </a:xfrm>
          <a:prstGeom prst="rect">
            <a:avLst/>
          </a:prstGeom>
          <a:noFill/>
          <a:ln/>
        </p:spPr>
        <p:txBody>
          <a:bodyPr wrap="square" rtlCol="0" anchor="ctr"/>
          <a:lstStyle/>
          <a:p>
            <a:pPr indent="0" marL="0">
              <a:buNone/>
            </a:pPr>
            <a:r>
              <a:rPr lang="en-US" sz="2000" b="1" dirty="0">
                <a:solidFill>
                  <a:srgbClr val="22D3EE"/>
                </a:solidFill>
                <a:latin typeface="Georgia" pitchFamily="34" charset="0"/>
                <a:ea typeface="Georgia" pitchFamily="34" charset="-122"/>
                <a:cs typeface="Georgia" pitchFamily="34" charset="-120"/>
              </a:rPr>
              <a:t>UMAP Dimensionality Reduction</a:t>
            </a:r>
            <a:endParaRPr lang="en-US" sz="2000" dirty="0"/>
          </a:p>
        </p:txBody>
      </p:sp>
      <p:sp>
        <p:nvSpPr>
          <p:cNvPr id="5" name="Text 3"/>
          <p:cNvSpPr/>
          <p:nvPr/>
        </p:nvSpPr>
        <p:spPr>
          <a:xfrm>
            <a:off x="822960" y="521208"/>
            <a:ext cx="7315200" cy="182880"/>
          </a:xfrm>
          <a:prstGeom prst="rect">
            <a:avLst/>
          </a:prstGeom>
          <a:noFill/>
          <a:ln/>
        </p:spPr>
        <p:txBody>
          <a:bodyPr wrap="square" rtlCol="0" anchor="ctr"/>
          <a:lstStyle/>
          <a:p>
            <a:pPr indent="0" marL="0">
              <a:buNone/>
            </a:pPr>
            <a:r>
              <a:rPr lang="en-US" sz="1000" dirty="0">
                <a:solidFill>
                  <a:srgbClr val="8896AB"/>
                </a:solidFill>
                <a:latin typeface="Arial" pitchFamily="34" charset="0"/>
                <a:ea typeface="Arial" pitchFamily="34" charset="-122"/>
                <a:cs typeface="Arial" pitchFamily="34" charset="-120"/>
              </a:rPr>
              <a:t>Visualising the economy's journey through 13-dimensional inflation space</a:t>
            </a:r>
            <a:endParaRPr lang="en-US" sz="1000" dirty="0"/>
          </a:p>
        </p:txBody>
      </p:sp>
      <p:sp>
        <p:nvSpPr>
          <p:cNvPr id="6" name="Shape 4"/>
          <p:cNvSpPr/>
          <p:nvPr/>
        </p:nvSpPr>
        <p:spPr>
          <a:xfrm>
            <a:off x="274320" y="822960"/>
            <a:ext cx="2560320" cy="1097280"/>
          </a:xfrm>
          <a:prstGeom prst="roundRect">
            <a:avLst>
              <a:gd name="adj" fmla="val 5000"/>
            </a:avLst>
          </a:prstGeom>
          <a:solidFill>
            <a:srgbClr val="151E2D"/>
          </a:solidFill>
          <a:ln w="6350">
            <a:solidFill>
              <a:srgbClr val="22D3EE"/>
            </a:solidFill>
            <a:prstDash val="solid"/>
          </a:ln>
        </p:spPr>
      </p:sp>
      <p:sp>
        <p:nvSpPr>
          <p:cNvPr id="7" name="Text 5"/>
          <p:cNvSpPr/>
          <p:nvPr/>
        </p:nvSpPr>
        <p:spPr>
          <a:xfrm>
            <a:off x="365760" y="868680"/>
            <a:ext cx="2377440" cy="274320"/>
          </a:xfrm>
          <a:prstGeom prst="rect">
            <a:avLst/>
          </a:prstGeom>
          <a:noFill/>
          <a:ln/>
        </p:spPr>
        <p:txBody>
          <a:bodyPr wrap="square" rtlCol="0" anchor="ctr"/>
          <a:lstStyle/>
          <a:p>
            <a:pPr indent="0" marL="0">
              <a:buNone/>
            </a:pPr>
            <a:r>
              <a:rPr lang="en-US" sz="900" b="1" dirty="0">
                <a:solidFill>
                  <a:srgbClr val="22D3EE"/>
                </a:solidFill>
                <a:latin typeface="Arial" pitchFamily="34" charset="0"/>
                <a:ea typeface="Arial" pitchFamily="34" charset="-122"/>
                <a:cs typeface="Arial" pitchFamily="34" charset="-120"/>
              </a:rPr>
              <a:t>INPUT</a:t>
            </a:r>
            <a:endParaRPr lang="en-US" sz="900" dirty="0"/>
          </a:p>
        </p:txBody>
      </p:sp>
      <p:sp>
        <p:nvSpPr>
          <p:cNvPr id="8" name="Text 6"/>
          <p:cNvSpPr/>
          <p:nvPr/>
        </p:nvSpPr>
        <p:spPr>
          <a:xfrm>
            <a:off x="365760" y="1124712"/>
            <a:ext cx="237744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Same standardised matrix from</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HDBSCAN: 48 months × 13D</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Each month is a point in</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13-dimensional space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(impossible to plot directly)</a:t>
            </a:r>
            <a:endParaRPr lang="en-US" sz="800" dirty="0"/>
          </a:p>
        </p:txBody>
      </p:sp>
      <p:sp>
        <p:nvSpPr>
          <p:cNvPr id="9" name="Shape 7"/>
          <p:cNvSpPr/>
          <p:nvPr/>
        </p:nvSpPr>
        <p:spPr>
          <a:xfrm>
            <a:off x="3017520" y="822960"/>
            <a:ext cx="3383280" cy="1097280"/>
          </a:xfrm>
          <a:prstGeom prst="roundRect">
            <a:avLst>
              <a:gd name="adj" fmla="val 5000"/>
            </a:avLst>
          </a:prstGeom>
          <a:solidFill>
            <a:srgbClr val="151E2D"/>
          </a:solidFill>
          <a:ln w="6350">
            <a:solidFill>
              <a:srgbClr val="FBBF24"/>
            </a:solidFill>
            <a:prstDash val="solid"/>
          </a:ln>
        </p:spPr>
      </p:sp>
      <p:sp>
        <p:nvSpPr>
          <p:cNvPr id="10" name="Text 8"/>
          <p:cNvSpPr/>
          <p:nvPr/>
        </p:nvSpPr>
        <p:spPr>
          <a:xfrm>
            <a:off x="3108960" y="868680"/>
            <a:ext cx="320040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METHOD: UMAP</a:t>
            </a:r>
            <a:endParaRPr lang="en-US" sz="900" dirty="0"/>
          </a:p>
        </p:txBody>
      </p:sp>
      <p:sp>
        <p:nvSpPr>
          <p:cNvPr id="11" name="Text 9"/>
          <p:cNvSpPr/>
          <p:nvPr/>
        </p:nvSpPr>
        <p:spPr>
          <a:xfrm>
            <a:off x="3108960" y="1124712"/>
            <a:ext cx="320040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Uniform Manifold Approximation &amp; Projection</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Reduces 13 dimensions → 2 dimensions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Preserves neighbourhood structure: similar months stay close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Uses topological data analysis under the hood</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Better than t-SNE for preserving global structure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n_neighbors=10 (local vs global balance)</a:t>
            </a:r>
            <a:endParaRPr lang="en-US" sz="800" dirty="0"/>
          </a:p>
        </p:txBody>
      </p:sp>
      <p:sp>
        <p:nvSpPr>
          <p:cNvPr id="12" name="Shape 10"/>
          <p:cNvSpPr/>
          <p:nvPr/>
        </p:nvSpPr>
        <p:spPr>
          <a:xfrm>
            <a:off x="6583680" y="822960"/>
            <a:ext cx="2377440" cy="1097280"/>
          </a:xfrm>
          <a:prstGeom prst="roundRect">
            <a:avLst>
              <a:gd name="adj" fmla="val 5000"/>
            </a:avLst>
          </a:prstGeom>
          <a:solidFill>
            <a:srgbClr val="151E2D"/>
          </a:solidFill>
          <a:ln w="6350">
            <a:solidFill>
              <a:srgbClr val="4ADE80"/>
            </a:solidFill>
            <a:prstDash val="solid"/>
          </a:ln>
        </p:spPr>
      </p:sp>
      <p:sp>
        <p:nvSpPr>
          <p:cNvPr id="13" name="Text 11"/>
          <p:cNvSpPr/>
          <p:nvPr/>
        </p:nvSpPr>
        <p:spPr>
          <a:xfrm>
            <a:off x="6675120" y="868680"/>
            <a:ext cx="2194560" cy="274320"/>
          </a:xfrm>
          <a:prstGeom prst="rect">
            <a:avLst/>
          </a:prstGeom>
          <a:noFill/>
          <a:ln/>
        </p:spPr>
        <p:txBody>
          <a:bodyPr wrap="square" rtlCol="0" anchor="ctr"/>
          <a:lstStyle/>
          <a:p>
            <a:pPr indent="0" marL="0">
              <a:buNone/>
            </a:pPr>
            <a:r>
              <a:rPr lang="en-US" sz="900" b="1" dirty="0">
                <a:solidFill>
                  <a:srgbClr val="4ADE80"/>
                </a:solidFill>
                <a:latin typeface="Arial" pitchFamily="34" charset="0"/>
                <a:ea typeface="Arial" pitchFamily="34" charset="-122"/>
                <a:cs typeface="Arial" pitchFamily="34" charset="-120"/>
              </a:rPr>
              <a:t>OUTPUT</a:t>
            </a:r>
            <a:endParaRPr lang="en-US" sz="900" dirty="0"/>
          </a:p>
        </p:txBody>
      </p:sp>
      <p:sp>
        <p:nvSpPr>
          <p:cNvPr id="14" name="Text 12"/>
          <p:cNvSpPr/>
          <p:nvPr/>
        </p:nvSpPr>
        <p:spPr>
          <a:xfrm>
            <a:off x="6675120" y="1124712"/>
            <a:ext cx="219456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48 points in 2D (x, y)</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Coloured by HDBSCAN cluster</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Reveals temporal PATH</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through inflation regimes: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left→right = time progression</a:t>
            </a:r>
            <a:endParaRPr lang="en-US" sz="800" dirty="0"/>
          </a:p>
        </p:txBody>
      </p:sp>
      <p:sp>
        <p:nvSpPr>
          <p:cNvPr id="15" name="Shape 13"/>
          <p:cNvSpPr/>
          <p:nvPr/>
        </p:nvSpPr>
        <p:spPr>
          <a:xfrm>
            <a:off x="274320" y="2057400"/>
            <a:ext cx="4846320" cy="1325880"/>
          </a:xfrm>
          <a:prstGeom prst="roundRect">
            <a:avLst>
              <a:gd name="adj" fmla="val 4138"/>
            </a:avLst>
          </a:prstGeom>
          <a:solidFill>
            <a:srgbClr val="0D1117"/>
          </a:solidFill>
          <a:ln/>
        </p:spPr>
      </p:sp>
      <p:sp>
        <p:nvSpPr>
          <p:cNvPr id="16" name="Text 14"/>
          <p:cNvSpPr/>
          <p:nvPr/>
        </p:nvSpPr>
        <p:spPr>
          <a:xfrm>
            <a:off x="365760" y="2057400"/>
            <a:ext cx="4663440" cy="1325880"/>
          </a:xfrm>
          <a:prstGeom prst="rect">
            <a:avLst/>
          </a:prstGeom>
          <a:noFill/>
          <a:ln/>
        </p:spPr>
        <p:txBody>
          <a:bodyPr wrap="square" rtlCol="0" anchor="t"/>
          <a:lstStyle/>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import umap</a:t>
            </a:r>
            <a:endParaRPr lang="en-US" sz="800" dirty="0"/>
          </a:p>
          <a:p>
            <a:pPr indent="0" marL="0">
              <a:lnSpc>
                <a:spcPct val="130000"/>
              </a:lnSpc>
              <a:buNone/>
            </a:pP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reducer = umap.UMAP(</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n_neighbors=10,    # balance local/global structure</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min_dist=0.1,      # how tight clusters pack</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n_components=2,    # output 2D for plotting</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random_state=42    # reproducibility</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embedding = reducer.fit_transform(X_scaled)  # 48×13 → 48×2</a:t>
            </a:r>
            <a:endParaRPr lang="en-US" sz="800" dirty="0"/>
          </a:p>
          <a:p>
            <a:pPr indent="0" marL="0">
              <a:lnSpc>
                <a:spcPct val="130000"/>
              </a:lnSpc>
              <a:buNone/>
            </a:pP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Plot: plt.scatter(embedding[:,0], embedding[:,1], c=labels)</a:t>
            </a:r>
            <a:endParaRPr lang="en-US" sz="800" dirty="0"/>
          </a:p>
        </p:txBody>
      </p:sp>
      <p:sp>
        <p:nvSpPr>
          <p:cNvPr id="17" name="Shape 15"/>
          <p:cNvSpPr/>
          <p:nvPr/>
        </p:nvSpPr>
        <p:spPr>
          <a:xfrm>
            <a:off x="5303520" y="2057400"/>
            <a:ext cx="3657600" cy="1325880"/>
          </a:xfrm>
          <a:prstGeom prst="roundRect">
            <a:avLst>
              <a:gd name="adj" fmla="val 4138"/>
            </a:avLst>
          </a:prstGeom>
          <a:solidFill>
            <a:srgbClr val="151E2D"/>
          </a:solidFill>
          <a:ln w="6350">
            <a:solidFill>
              <a:srgbClr val="A78BFA"/>
            </a:solidFill>
            <a:prstDash val="solid"/>
          </a:ln>
        </p:spPr>
      </p:sp>
      <p:sp>
        <p:nvSpPr>
          <p:cNvPr id="18" name="Text 16"/>
          <p:cNvSpPr/>
          <p:nvPr/>
        </p:nvSpPr>
        <p:spPr>
          <a:xfrm>
            <a:off x="5394960" y="2103120"/>
            <a:ext cx="3474720" cy="27432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WHY UMAP (not PCA/t-SNE)?</a:t>
            </a:r>
            <a:endParaRPr lang="en-US" sz="900" dirty="0"/>
          </a:p>
        </p:txBody>
      </p:sp>
      <p:sp>
        <p:nvSpPr>
          <p:cNvPr id="19" name="Text 17"/>
          <p:cNvSpPr/>
          <p:nvPr/>
        </p:nvSpPr>
        <p:spPr>
          <a:xfrm>
            <a:off x="5394960" y="2359152"/>
            <a:ext cx="3474720" cy="9784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 PCA is linear — can't capture non-linear regime transitions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t-SNE doesn't preserve global structure well (clusters look random)</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UMAP preserves BOTH local similarity AND global relationships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The temporal path through UMAP space shows HOW the economy transitioned between regimes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Standard in modern ML for high-dimensional visualisation</a:t>
            </a:r>
            <a:endParaRPr lang="en-US" sz="800" dirty="0"/>
          </a:p>
        </p:txBody>
      </p:sp>
      <p:sp>
        <p:nvSpPr>
          <p:cNvPr id="20" name="Shape 18"/>
          <p:cNvSpPr/>
          <p:nvPr/>
        </p:nvSpPr>
        <p:spPr>
          <a:xfrm>
            <a:off x="274320" y="3520440"/>
            <a:ext cx="8686800" cy="1417320"/>
          </a:xfrm>
          <a:prstGeom prst="roundRect">
            <a:avLst>
              <a:gd name="adj" fmla="val 3871"/>
            </a:avLst>
          </a:prstGeom>
          <a:solidFill>
            <a:srgbClr val="151E2D"/>
          </a:solidFill>
          <a:ln w="6350">
            <a:solidFill>
              <a:srgbClr val="FBBF24"/>
            </a:solidFill>
            <a:prstDash val="solid"/>
          </a:ln>
        </p:spPr>
      </p:sp>
      <p:sp>
        <p:nvSpPr>
          <p:cNvPr id="21" name="Text 19"/>
          <p:cNvSpPr/>
          <p:nvPr/>
        </p:nvSpPr>
        <p:spPr>
          <a:xfrm>
            <a:off x="365760" y="3566160"/>
            <a:ext cx="850392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WHERE THIS FITS IN THE BIGGER STORY</a:t>
            </a:r>
            <a:endParaRPr lang="en-US" sz="900" dirty="0"/>
          </a:p>
        </p:txBody>
      </p:sp>
      <p:sp>
        <p:nvSpPr>
          <p:cNvPr id="22" name="Text 20"/>
          <p:cNvSpPr/>
          <p:nvPr/>
        </p:nvSpPr>
        <p:spPr>
          <a:xfrm>
            <a:off x="365760" y="3822192"/>
            <a:ext cx="8503920" cy="106984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The UMAP plot is the visual 'proof' that our narrative is real. When you colour points by time, you see the economy literally travel from one region of inflation-space to another. The 2022 oil shock points sit far from the 2025 two-speed economy points. The transition months (HDBSCAN noise) sit between clusters — exactly where regime transitions should be.</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This is the plot we show if someone asks 'how do you KNOW these are different eras?' — the algorithm placed them in different parts of the map, entirely from data.</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Used in: PPT Slide 7 (Speaker 4: 'UMAP confirms temporal evolution'), Notebook Cell 17, Galaxy visualisation concept</a:t>
            </a:r>
            <a:endParaRPr lang="en-US" sz="800" dirty="0"/>
          </a:p>
        </p:txBody>
      </p:sp>
      <p:sp>
        <p:nvSpPr>
          <p:cNvPr id="23" name="Text 21"/>
          <p:cNvSpPr/>
          <p:nvPr/>
        </p:nvSpPr>
        <p:spPr>
          <a:xfrm>
            <a:off x="8321040" y="4892040"/>
            <a:ext cx="640080" cy="182880"/>
          </a:xfrm>
          <a:prstGeom prst="rect">
            <a:avLst/>
          </a:prstGeom>
          <a:noFill/>
          <a:ln/>
        </p:spPr>
        <p:txBody>
          <a:bodyPr wrap="square" rtlCol="0" anchor="ctr"/>
          <a:lstStyle/>
          <a:p>
            <a:pPr algn="r" indent="0" marL="0">
              <a:buNone/>
            </a:pPr>
            <a:r>
              <a:rPr lang="en-US" sz="800" dirty="0">
                <a:solidFill>
                  <a:srgbClr val="8896AB"/>
                </a:solidFill>
                <a:latin typeface="Arial" pitchFamily="34" charset="0"/>
                <a:ea typeface="Arial" pitchFamily="34" charset="-122"/>
                <a:cs typeface="Arial" pitchFamily="34" charset="-120"/>
              </a:rPr>
              <a:t>6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274320" y="182880"/>
            <a:ext cx="411480" cy="411480"/>
          </a:xfrm>
          <a:prstGeom prst="ellipse">
            <a:avLst/>
          </a:prstGeom>
          <a:solidFill>
            <a:srgbClr val="FB923C"/>
          </a:solidFill>
          <a:ln/>
        </p:spPr>
      </p:sp>
      <p:sp>
        <p:nvSpPr>
          <p:cNvPr id="3" name="Text 1"/>
          <p:cNvSpPr/>
          <p:nvPr/>
        </p:nvSpPr>
        <p:spPr>
          <a:xfrm>
            <a:off x="274320" y="182880"/>
            <a:ext cx="411480" cy="411480"/>
          </a:xfrm>
          <a:prstGeom prst="rect">
            <a:avLst/>
          </a:prstGeom>
          <a:noFill/>
          <a:ln/>
        </p:spPr>
        <p:txBody>
          <a:bodyPr wrap="square" rtlCol="0" anchor="ctr"/>
          <a:lstStyle/>
          <a:p>
            <a:pPr algn="ctr" indent="0" marL="0">
              <a:buNone/>
            </a:pPr>
            <a:r>
              <a:rPr lang="en-US" sz="1800" b="1" dirty="0">
                <a:solidFill>
                  <a:srgbClr val="0F1419"/>
                </a:solidFill>
                <a:latin typeface="Arial" pitchFamily="34" charset="0"/>
                <a:ea typeface="Arial" pitchFamily="34" charset="-122"/>
                <a:cs typeface="Arial" pitchFamily="34" charset="-120"/>
              </a:rPr>
              <a:t>6</a:t>
            </a:r>
            <a:endParaRPr lang="en-US" sz="1800" dirty="0"/>
          </a:p>
        </p:txBody>
      </p:sp>
      <p:sp>
        <p:nvSpPr>
          <p:cNvPr id="4" name="Text 2"/>
          <p:cNvSpPr/>
          <p:nvPr/>
        </p:nvSpPr>
        <p:spPr>
          <a:xfrm>
            <a:off x="822960" y="201168"/>
            <a:ext cx="5486400" cy="365760"/>
          </a:xfrm>
          <a:prstGeom prst="rect">
            <a:avLst/>
          </a:prstGeom>
          <a:noFill/>
          <a:ln/>
        </p:spPr>
        <p:txBody>
          <a:bodyPr wrap="square" rtlCol="0" anchor="ctr"/>
          <a:lstStyle/>
          <a:p>
            <a:pPr indent="0" marL="0">
              <a:buNone/>
            </a:pPr>
            <a:r>
              <a:rPr lang="en-US" sz="2000" b="1" dirty="0">
                <a:solidFill>
                  <a:srgbClr val="FB923C"/>
                </a:solidFill>
                <a:latin typeface="Georgia" pitchFamily="34" charset="0"/>
                <a:ea typeface="Georgia" pitchFamily="34" charset="-122"/>
                <a:cs typeface="Georgia" pitchFamily="34" charset="-120"/>
              </a:rPr>
              <a:t>Cross-Correlation Lag Analysis</a:t>
            </a:r>
            <a:endParaRPr lang="en-US" sz="2000" dirty="0"/>
          </a:p>
        </p:txBody>
      </p:sp>
      <p:sp>
        <p:nvSpPr>
          <p:cNvPr id="5" name="Text 3"/>
          <p:cNvSpPr/>
          <p:nvPr/>
        </p:nvSpPr>
        <p:spPr>
          <a:xfrm>
            <a:off x="822960" y="521208"/>
            <a:ext cx="7315200" cy="182880"/>
          </a:xfrm>
          <a:prstGeom prst="rect">
            <a:avLst/>
          </a:prstGeom>
          <a:noFill/>
          <a:ln/>
        </p:spPr>
        <p:txBody>
          <a:bodyPr wrap="square" rtlCol="0" anchor="ctr"/>
          <a:lstStyle/>
          <a:p>
            <a:pPr indent="0" marL="0">
              <a:buNone/>
            </a:pPr>
            <a:r>
              <a:rPr lang="en-US" sz="1000" dirty="0">
                <a:solidFill>
                  <a:srgbClr val="8896AB"/>
                </a:solidFill>
                <a:latin typeface="Arial" pitchFamily="34" charset="0"/>
                <a:ea typeface="Arial" pitchFamily="34" charset="-122"/>
                <a:cs typeface="Arial" pitchFamily="34" charset="-120"/>
              </a:rPr>
              <a:t>How many months does each sector lead or lag headline CPI?</a:t>
            </a:r>
            <a:endParaRPr lang="en-US" sz="1000" dirty="0"/>
          </a:p>
        </p:txBody>
      </p:sp>
      <p:sp>
        <p:nvSpPr>
          <p:cNvPr id="6" name="Shape 4"/>
          <p:cNvSpPr/>
          <p:nvPr/>
        </p:nvSpPr>
        <p:spPr>
          <a:xfrm>
            <a:off x="274320" y="822960"/>
            <a:ext cx="2560320" cy="1097280"/>
          </a:xfrm>
          <a:prstGeom prst="roundRect">
            <a:avLst>
              <a:gd name="adj" fmla="val 5000"/>
            </a:avLst>
          </a:prstGeom>
          <a:solidFill>
            <a:srgbClr val="151E2D"/>
          </a:solidFill>
          <a:ln w="6350">
            <a:solidFill>
              <a:srgbClr val="22D3EE"/>
            </a:solidFill>
            <a:prstDash val="solid"/>
          </a:ln>
        </p:spPr>
      </p:sp>
      <p:sp>
        <p:nvSpPr>
          <p:cNvPr id="7" name="Text 5"/>
          <p:cNvSpPr/>
          <p:nvPr/>
        </p:nvSpPr>
        <p:spPr>
          <a:xfrm>
            <a:off x="365760" y="868680"/>
            <a:ext cx="2377440" cy="274320"/>
          </a:xfrm>
          <a:prstGeom prst="rect">
            <a:avLst/>
          </a:prstGeom>
          <a:noFill/>
          <a:ln/>
        </p:spPr>
        <p:txBody>
          <a:bodyPr wrap="square" rtlCol="0" anchor="ctr"/>
          <a:lstStyle/>
          <a:p>
            <a:pPr indent="0" marL="0">
              <a:buNone/>
            </a:pPr>
            <a:r>
              <a:rPr lang="en-US" sz="900" b="1" dirty="0">
                <a:solidFill>
                  <a:srgbClr val="22D3EE"/>
                </a:solidFill>
                <a:latin typeface="Arial" pitchFamily="34" charset="0"/>
                <a:ea typeface="Arial" pitchFamily="34" charset="-122"/>
                <a:cs typeface="Arial" pitchFamily="34" charset="-120"/>
              </a:rPr>
              <a:t>INPUT</a:t>
            </a:r>
            <a:endParaRPr lang="en-US" sz="900" dirty="0"/>
          </a:p>
        </p:txBody>
      </p:sp>
      <p:sp>
        <p:nvSpPr>
          <p:cNvPr id="8" name="Text 6"/>
          <p:cNvSpPr/>
          <p:nvPr/>
        </p:nvSpPr>
        <p:spPr>
          <a:xfrm>
            <a:off x="365760" y="1124712"/>
            <a:ext cx="237744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Annual YoY inflation</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132 months per series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All Items vs each sector</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Test lags: -6 to +6 months</a:t>
            </a:r>
            <a:endParaRPr lang="en-US" sz="800" dirty="0"/>
          </a:p>
        </p:txBody>
      </p:sp>
      <p:sp>
        <p:nvSpPr>
          <p:cNvPr id="9" name="Shape 7"/>
          <p:cNvSpPr/>
          <p:nvPr/>
        </p:nvSpPr>
        <p:spPr>
          <a:xfrm>
            <a:off x="3017520" y="822960"/>
            <a:ext cx="3383280" cy="1097280"/>
          </a:xfrm>
          <a:prstGeom prst="roundRect">
            <a:avLst>
              <a:gd name="adj" fmla="val 5000"/>
            </a:avLst>
          </a:prstGeom>
          <a:solidFill>
            <a:srgbClr val="151E2D"/>
          </a:solidFill>
          <a:ln w="6350">
            <a:solidFill>
              <a:srgbClr val="FBBF24"/>
            </a:solidFill>
            <a:prstDash val="solid"/>
          </a:ln>
        </p:spPr>
      </p:sp>
      <p:sp>
        <p:nvSpPr>
          <p:cNvPr id="10" name="Text 8"/>
          <p:cNvSpPr/>
          <p:nvPr/>
        </p:nvSpPr>
        <p:spPr>
          <a:xfrm>
            <a:off x="3108960" y="868680"/>
            <a:ext cx="320040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METHOD: Lagged Pearson Correlation</a:t>
            </a:r>
            <a:endParaRPr lang="en-US" sz="900" dirty="0"/>
          </a:p>
        </p:txBody>
      </p:sp>
      <p:sp>
        <p:nvSpPr>
          <p:cNvPr id="11" name="Text 9"/>
          <p:cNvSpPr/>
          <p:nvPr/>
        </p:nvSpPr>
        <p:spPr>
          <a:xfrm>
            <a:off x="3108960" y="1124712"/>
            <a:ext cx="320040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For each lag k = -6 to +6:</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r(k) = corr( ALL(t), Sector(t+k) )</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Peak at k &gt; 0 → sector LEADS CPI</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Peak at k = 0 → sector is COINCIDENT</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Peak at k &lt; 0 → sector LAGS CPI</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Normalise both series (z-score) before correlating</a:t>
            </a:r>
            <a:endParaRPr lang="en-US" sz="800" dirty="0"/>
          </a:p>
        </p:txBody>
      </p:sp>
      <p:sp>
        <p:nvSpPr>
          <p:cNvPr id="12" name="Shape 10"/>
          <p:cNvSpPr/>
          <p:nvPr/>
        </p:nvSpPr>
        <p:spPr>
          <a:xfrm>
            <a:off x="6583680" y="822960"/>
            <a:ext cx="2377440" cy="1097280"/>
          </a:xfrm>
          <a:prstGeom prst="roundRect">
            <a:avLst>
              <a:gd name="adj" fmla="val 5000"/>
            </a:avLst>
          </a:prstGeom>
          <a:solidFill>
            <a:srgbClr val="151E2D"/>
          </a:solidFill>
          <a:ln w="6350">
            <a:solidFill>
              <a:srgbClr val="4ADE80"/>
            </a:solidFill>
            <a:prstDash val="solid"/>
          </a:ln>
        </p:spPr>
      </p:sp>
      <p:sp>
        <p:nvSpPr>
          <p:cNvPr id="13" name="Text 11"/>
          <p:cNvSpPr/>
          <p:nvPr/>
        </p:nvSpPr>
        <p:spPr>
          <a:xfrm>
            <a:off x="6675120" y="868680"/>
            <a:ext cx="2194560" cy="274320"/>
          </a:xfrm>
          <a:prstGeom prst="rect">
            <a:avLst/>
          </a:prstGeom>
          <a:noFill/>
          <a:ln/>
        </p:spPr>
        <p:txBody>
          <a:bodyPr wrap="square" rtlCol="0" anchor="ctr"/>
          <a:lstStyle/>
          <a:p>
            <a:pPr indent="0" marL="0">
              <a:buNone/>
            </a:pPr>
            <a:r>
              <a:rPr lang="en-US" sz="900" b="1" dirty="0">
                <a:solidFill>
                  <a:srgbClr val="4ADE80"/>
                </a:solidFill>
                <a:latin typeface="Arial" pitchFamily="34" charset="0"/>
                <a:ea typeface="Arial" pitchFamily="34" charset="-122"/>
                <a:cs typeface="Arial" pitchFamily="34" charset="-120"/>
              </a:rPr>
              <a:t>OUTPUT</a:t>
            </a:r>
            <a:endParaRPr lang="en-US" sz="900" dirty="0"/>
          </a:p>
        </p:txBody>
      </p:sp>
      <p:sp>
        <p:nvSpPr>
          <p:cNvPr id="14" name="Text 12"/>
          <p:cNvSpPr/>
          <p:nvPr/>
        </p:nvSpPr>
        <p:spPr>
          <a:xfrm>
            <a:off x="6675120" y="1124712"/>
            <a:ext cx="219456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Transport: lag 0 (r=0.66)</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 coincident (oil)</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Housing: lag 0 (r=0.54)</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 coincident to +1</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Food: lag -1 (r=0.49)</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 slightly lags</a:t>
            </a:r>
            <a:endParaRPr lang="en-US" sz="800" dirty="0"/>
          </a:p>
        </p:txBody>
      </p:sp>
      <p:sp>
        <p:nvSpPr>
          <p:cNvPr id="15" name="Shape 13"/>
          <p:cNvSpPr/>
          <p:nvPr/>
        </p:nvSpPr>
        <p:spPr>
          <a:xfrm>
            <a:off x="274320" y="2057400"/>
            <a:ext cx="4846320" cy="1188720"/>
          </a:xfrm>
          <a:prstGeom prst="roundRect">
            <a:avLst>
              <a:gd name="adj" fmla="val 4615"/>
            </a:avLst>
          </a:prstGeom>
          <a:solidFill>
            <a:srgbClr val="0D1117"/>
          </a:solidFill>
          <a:ln/>
        </p:spPr>
      </p:sp>
      <p:sp>
        <p:nvSpPr>
          <p:cNvPr id="16" name="Text 14"/>
          <p:cNvSpPr/>
          <p:nvPr/>
        </p:nvSpPr>
        <p:spPr>
          <a:xfrm>
            <a:off x="365760" y="2057400"/>
            <a:ext cx="4663440" cy="1188720"/>
          </a:xfrm>
          <a:prstGeom prst="rect">
            <a:avLst/>
          </a:prstGeom>
          <a:noFill/>
          <a:ln/>
        </p:spPr>
        <p:txBody>
          <a:bodyPr wrap="square" rtlCol="0" anchor="t"/>
          <a:lstStyle/>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max_lag = 6</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for lag in range(-max_lag, max_lag + 1):</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if lag &gt;= 0:</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r = np.corrcoef(all_norm[lag:], sector_norm[:n-lag])[0,1]</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else:</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r = np.corrcoef(all_norm[:n+lag], sector_norm[-lag:])[0,1]</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correlations.append(r)</a:t>
            </a:r>
            <a:endParaRPr lang="en-US" sz="800" dirty="0"/>
          </a:p>
          <a:p>
            <a:pPr indent="0" marL="0">
              <a:lnSpc>
                <a:spcPct val="130000"/>
              </a:lnSpc>
              <a:buNone/>
            </a:pP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best_lag = lags[np.argmax(np.abs(correlations))]  # strongest signal</a:t>
            </a:r>
            <a:endParaRPr lang="en-US" sz="800" dirty="0"/>
          </a:p>
        </p:txBody>
      </p:sp>
      <p:sp>
        <p:nvSpPr>
          <p:cNvPr id="17" name="Shape 15"/>
          <p:cNvSpPr/>
          <p:nvPr/>
        </p:nvSpPr>
        <p:spPr>
          <a:xfrm>
            <a:off x="5303520" y="2057400"/>
            <a:ext cx="3657600" cy="1188720"/>
          </a:xfrm>
          <a:prstGeom prst="roundRect">
            <a:avLst>
              <a:gd name="adj" fmla="val 4615"/>
            </a:avLst>
          </a:prstGeom>
          <a:solidFill>
            <a:srgbClr val="151E2D"/>
          </a:solidFill>
          <a:ln w="6350">
            <a:solidFill>
              <a:srgbClr val="A78BFA"/>
            </a:solidFill>
            <a:prstDash val="solid"/>
          </a:ln>
        </p:spPr>
      </p:sp>
      <p:sp>
        <p:nvSpPr>
          <p:cNvPr id="18" name="Text 16"/>
          <p:cNvSpPr/>
          <p:nvPr/>
        </p:nvSpPr>
        <p:spPr>
          <a:xfrm>
            <a:off x="5394960" y="2103120"/>
            <a:ext cx="3474720" cy="27432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WHY CROSS-CORRELATION?</a:t>
            </a:r>
            <a:endParaRPr lang="en-US" sz="900" dirty="0"/>
          </a:p>
        </p:txBody>
      </p:sp>
      <p:sp>
        <p:nvSpPr>
          <p:cNvPr id="19" name="Text 17"/>
          <p:cNvSpPr/>
          <p:nvPr/>
        </p:nvSpPr>
        <p:spPr>
          <a:xfrm>
            <a:off x="5394960" y="2359152"/>
            <a:ext cx="3474720" cy="84124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 Simpler and more interpretable than Granger causality</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Shows the actual lag in months (Granger gives p-values)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Complements Granger: if both agree on direction, finding is robust</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No stationarity requirement for correlation at each lag</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Visual: the lag profile plot is immediately intuitive</a:t>
            </a:r>
            <a:endParaRPr lang="en-US" sz="800" dirty="0"/>
          </a:p>
        </p:txBody>
      </p:sp>
      <p:sp>
        <p:nvSpPr>
          <p:cNvPr id="20" name="Shape 18"/>
          <p:cNvSpPr/>
          <p:nvPr/>
        </p:nvSpPr>
        <p:spPr>
          <a:xfrm>
            <a:off x="274320" y="3383280"/>
            <a:ext cx="8686800" cy="1554480"/>
          </a:xfrm>
          <a:prstGeom prst="roundRect">
            <a:avLst>
              <a:gd name="adj" fmla="val 3529"/>
            </a:avLst>
          </a:prstGeom>
          <a:solidFill>
            <a:srgbClr val="151E2D"/>
          </a:solidFill>
          <a:ln w="6350">
            <a:solidFill>
              <a:srgbClr val="FBBF24"/>
            </a:solidFill>
            <a:prstDash val="solid"/>
          </a:ln>
        </p:spPr>
      </p:sp>
      <p:sp>
        <p:nvSpPr>
          <p:cNvPr id="21" name="Text 19"/>
          <p:cNvSpPr/>
          <p:nvPr/>
        </p:nvSpPr>
        <p:spPr>
          <a:xfrm>
            <a:off x="365760" y="3429000"/>
            <a:ext cx="850392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WHERE THIS FITS IN THE BIGGER STORY</a:t>
            </a:r>
            <a:endParaRPr lang="en-US" sz="900" dirty="0"/>
          </a:p>
        </p:txBody>
      </p:sp>
      <p:sp>
        <p:nvSpPr>
          <p:cNvPr id="22" name="Text 20"/>
          <p:cNvSpPr/>
          <p:nvPr/>
        </p:nvSpPr>
        <p:spPr>
          <a:xfrm>
            <a:off x="365760" y="3685032"/>
            <a:ext cx="8503920" cy="12070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Cross-correlation confirms and quantifies the Granger results. Transport at lag=0 with r=0.66 is the strongest single-sector correlation — and it's coincident because oil price changes hit fuel pumps and CPI in the same month. This explains why Transport appears so volatile in the headline: it doesn't build up gradually like Housing, it spikes instantly.</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Housing's correlation structure (coincident to +1 month lead) is weaker in magnitude (r=0.54) but far more important because of its 35% weight. A small correlation × huge weight = massive CPI impact.</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Education's step-function pattern (annual fee changes) makes it essentially uncorrelated at monthly frequency — validating our anomaly finding about school fees.</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Used in: PPT Slide 7 (Speaker 4: 'Transport = coincident, Education = step-function'), Monthly dashboard Transport tab, Q&amp;A on policy timing</a:t>
            </a:r>
            <a:endParaRPr lang="en-US" sz="800" dirty="0"/>
          </a:p>
        </p:txBody>
      </p:sp>
      <p:sp>
        <p:nvSpPr>
          <p:cNvPr id="23" name="Text 21"/>
          <p:cNvSpPr/>
          <p:nvPr/>
        </p:nvSpPr>
        <p:spPr>
          <a:xfrm>
            <a:off x="8321040" y="4892040"/>
            <a:ext cx="640080" cy="182880"/>
          </a:xfrm>
          <a:prstGeom prst="rect">
            <a:avLst/>
          </a:prstGeom>
          <a:noFill/>
          <a:ln/>
        </p:spPr>
        <p:txBody>
          <a:bodyPr wrap="square" rtlCol="0" anchor="ctr"/>
          <a:lstStyle/>
          <a:p>
            <a:pPr algn="r" indent="0" marL="0">
              <a:buNone/>
            </a:pPr>
            <a:r>
              <a:rPr lang="en-US" sz="800" dirty="0">
                <a:solidFill>
                  <a:srgbClr val="8896AB"/>
                </a:solidFill>
                <a:latin typeface="Arial" pitchFamily="34" charset="0"/>
                <a:ea typeface="Arial" pitchFamily="34" charset="-122"/>
                <a:cs typeface="Arial" pitchFamily="34" charset="-120"/>
              </a:rPr>
              <a:t>7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274320" y="182880"/>
            <a:ext cx="411480" cy="411480"/>
          </a:xfrm>
          <a:prstGeom prst="ellipse">
            <a:avLst/>
          </a:prstGeom>
          <a:solidFill>
            <a:srgbClr val="F87171"/>
          </a:solidFill>
          <a:ln/>
        </p:spPr>
      </p:sp>
      <p:sp>
        <p:nvSpPr>
          <p:cNvPr id="3" name="Text 1"/>
          <p:cNvSpPr/>
          <p:nvPr/>
        </p:nvSpPr>
        <p:spPr>
          <a:xfrm>
            <a:off x="274320" y="182880"/>
            <a:ext cx="411480" cy="411480"/>
          </a:xfrm>
          <a:prstGeom prst="rect">
            <a:avLst/>
          </a:prstGeom>
          <a:noFill/>
          <a:ln/>
        </p:spPr>
        <p:txBody>
          <a:bodyPr wrap="square" rtlCol="0" anchor="ctr"/>
          <a:lstStyle/>
          <a:p>
            <a:pPr algn="ctr" indent="0" marL="0">
              <a:buNone/>
            </a:pPr>
            <a:r>
              <a:rPr lang="en-US" sz="1800" b="1" dirty="0">
                <a:solidFill>
                  <a:srgbClr val="0F1419"/>
                </a:solidFill>
                <a:latin typeface="Arial" pitchFamily="34" charset="0"/>
                <a:ea typeface="Arial" pitchFamily="34" charset="-122"/>
                <a:cs typeface="Arial" pitchFamily="34" charset="-120"/>
              </a:rPr>
              <a:t>7</a:t>
            </a:r>
            <a:endParaRPr lang="en-US" sz="1800" dirty="0"/>
          </a:p>
        </p:txBody>
      </p:sp>
      <p:sp>
        <p:nvSpPr>
          <p:cNvPr id="4" name="Text 2"/>
          <p:cNvSpPr/>
          <p:nvPr/>
        </p:nvSpPr>
        <p:spPr>
          <a:xfrm>
            <a:off x="822960" y="201168"/>
            <a:ext cx="5486400" cy="365760"/>
          </a:xfrm>
          <a:prstGeom prst="rect">
            <a:avLst/>
          </a:prstGeom>
          <a:noFill/>
          <a:ln/>
        </p:spPr>
        <p:txBody>
          <a:bodyPr wrap="square" rtlCol="0" anchor="ctr"/>
          <a:lstStyle/>
          <a:p>
            <a:pPr indent="0" marL="0">
              <a:buNone/>
            </a:pPr>
            <a:r>
              <a:rPr lang="en-US" sz="2000" b="1" dirty="0">
                <a:solidFill>
                  <a:srgbClr val="F87171"/>
                </a:solidFill>
                <a:latin typeface="Georgia" pitchFamily="34" charset="0"/>
                <a:ea typeface="Georgia" pitchFamily="34" charset="-122"/>
                <a:cs typeface="Georgia" pitchFamily="34" charset="-120"/>
              </a:rPr>
              <a:t>CUSUM Structural Break Detection</a:t>
            </a:r>
            <a:endParaRPr lang="en-US" sz="2000" dirty="0"/>
          </a:p>
        </p:txBody>
      </p:sp>
      <p:sp>
        <p:nvSpPr>
          <p:cNvPr id="5" name="Text 3"/>
          <p:cNvSpPr/>
          <p:nvPr/>
        </p:nvSpPr>
        <p:spPr>
          <a:xfrm>
            <a:off x="822960" y="521208"/>
            <a:ext cx="7315200" cy="182880"/>
          </a:xfrm>
          <a:prstGeom prst="rect">
            <a:avLst/>
          </a:prstGeom>
          <a:noFill/>
          <a:ln/>
        </p:spPr>
        <p:txBody>
          <a:bodyPr wrap="square" rtlCol="0" anchor="ctr"/>
          <a:lstStyle/>
          <a:p>
            <a:pPr indent="0" marL="0">
              <a:buNone/>
            </a:pPr>
            <a:r>
              <a:rPr lang="en-US" sz="1000" dirty="0">
                <a:solidFill>
                  <a:srgbClr val="8896AB"/>
                </a:solidFill>
                <a:latin typeface="Arial" pitchFamily="34" charset="0"/>
                <a:ea typeface="Arial" pitchFamily="34" charset="-122"/>
                <a:cs typeface="Arial" pitchFamily="34" charset="-120"/>
              </a:rPr>
              <a:t>At exactly which months did the inflation regime change?</a:t>
            </a:r>
            <a:endParaRPr lang="en-US" sz="1000" dirty="0"/>
          </a:p>
        </p:txBody>
      </p:sp>
      <p:sp>
        <p:nvSpPr>
          <p:cNvPr id="6" name="Shape 4"/>
          <p:cNvSpPr/>
          <p:nvPr/>
        </p:nvSpPr>
        <p:spPr>
          <a:xfrm>
            <a:off x="274320" y="822960"/>
            <a:ext cx="2560320" cy="1097280"/>
          </a:xfrm>
          <a:prstGeom prst="roundRect">
            <a:avLst>
              <a:gd name="adj" fmla="val 5000"/>
            </a:avLst>
          </a:prstGeom>
          <a:solidFill>
            <a:srgbClr val="151E2D"/>
          </a:solidFill>
          <a:ln w="6350">
            <a:solidFill>
              <a:srgbClr val="22D3EE"/>
            </a:solidFill>
            <a:prstDash val="solid"/>
          </a:ln>
        </p:spPr>
      </p:sp>
      <p:sp>
        <p:nvSpPr>
          <p:cNvPr id="7" name="Text 5"/>
          <p:cNvSpPr/>
          <p:nvPr/>
        </p:nvSpPr>
        <p:spPr>
          <a:xfrm>
            <a:off x="365760" y="868680"/>
            <a:ext cx="2377440" cy="274320"/>
          </a:xfrm>
          <a:prstGeom prst="rect">
            <a:avLst/>
          </a:prstGeom>
          <a:noFill/>
          <a:ln/>
        </p:spPr>
        <p:txBody>
          <a:bodyPr wrap="square" rtlCol="0" anchor="ctr"/>
          <a:lstStyle/>
          <a:p>
            <a:pPr indent="0" marL="0">
              <a:buNone/>
            </a:pPr>
            <a:r>
              <a:rPr lang="en-US" sz="900" b="1" dirty="0">
                <a:solidFill>
                  <a:srgbClr val="22D3EE"/>
                </a:solidFill>
                <a:latin typeface="Arial" pitchFamily="34" charset="0"/>
                <a:ea typeface="Arial" pitchFamily="34" charset="-122"/>
                <a:cs typeface="Arial" pitchFamily="34" charset="-120"/>
              </a:rPr>
              <a:t>INPUT</a:t>
            </a:r>
            <a:endParaRPr lang="en-US" sz="900" dirty="0"/>
          </a:p>
        </p:txBody>
      </p:sp>
      <p:sp>
        <p:nvSpPr>
          <p:cNvPr id="8" name="Text 6"/>
          <p:cNvSpPr/>
          <p:nvPr/>
        </p:nvSpPr>
        <p:spPr>
          <a:xfrm>
            <a:off x="365760" y="1124712"/>
            <a:ext cx="237744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All Items annual inflation</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132 months (2015–2025)</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Overall mean: 1.48%</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Single time series</a:t>
            </a:r>
            <a:endParaRPr lang="en-US" sz="800" dirty="0"/>
          </a:p>
        </p:txBody>
      </p:sp>
      <p:sp>
        <p:nvSpPr>
          <p:cNvPr id="9" name="Shape 7"/>
          <p:cNvSpPr/>
          <p:nvPr/>
        </p:nvSpPr>
        <p:spPr>
          <a:xfrm>
            <a:off x="3017520" y="822960"/>
            <a:ext cx="3383280" cy="1097280"/>
          </a:xfrm>
          <a:prstGeom prst="roundRect">
            <a:avLst>
              <a:gd name="adj" fmla="val 5000"/>
            </a:avLst>
          </a:prstGeom>
          <a:solidFill>
            <a:srgbClr val="151E2D"/>
          </a:solidFill>
          <a:ln w="6350">
            <a:solidFill>
              <a:srgbClr val="FBBF24"/>
            </a:solidFill>
            <a:prstDash val="solid"/>
          </a:ln>
        </p:spPr>
      </p:sp>
      <p:sp>
        <p:nvSpPr>
          <p:cNvPr id="10" name="Text 8"/>
          <p:cNvSpPr/>
          <p:nvPr/>
        </p:nvSpPr>
        <p:spPr>
          <a:xfrm>
            <a:off x="3108960" y="868680"/>
            <a:ext cx="320040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METHOD: Cumulative Sum (CUSUM)</a:t>
            </a:r>
            <a:endParaRPr lang="en-US" sz="900" dirty="0"/>
          </a:p>
        </p:txBody>
      </p:sp>
      <p:sp>
        <p:nvSpPr>
          <p:cNvPr id="11" name="Text 9"/>
          <p:cNvSpPr/>
          <p:nvPr/>
        </p:nvSpPr>
        <p:spPr>
          <a:xfrm>
            <a:off x="3108960" y="1124712"/>
            <a:ext cx="320040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CUSUM(t) = Σᵢ₌₁ᵗ (CPI(i) − mean)</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Rising slope = above-average inflation</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Falling slope = below-average inflation</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Sharp kink = regime change</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Break points detected from 2nd derivative peaks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(largest acceleration/deceleration in CUSUM)</a:t>
            </a:r>
            <a:endParaRPr lang="en-US" sz="800" dirty="0"/>
          </a:p>
        </p:txBody>
      </p:sp>
      <p:sp>
        <p:nvSpPr>
          <p:cNvPr id="12" name="Shape 10"/>
          <p:cNvSpPr/>
          <p:nvPr/>
        </p:nvSpPr>
        <p:spPr>
          <a:xfrm>
            <a:off x="6583680" y="822960"/>
            <a:ext cx="2377440" cy="1097280"/>
          </a:xfrm>
          <a:prstGeom prst="roundRect">
            <a:avLst>
              <a:gd name="adj" fmla="val 5000"/>
            </a:avLst>
          </a:prstGeom>
          <a:solidFill>
            <a:srgbClr val="151E2D"/>
          </a:solidFill>
          <a:ln w="6350">
            <a:solidFill>
              <a:srgbClr val="4ADE80"/>
            </a:solidFill>
            <a:prstDash val="solid"/>
          </a:ln>
        </p:spPr>
      </p:sp>
      <p:sp>
        <p:nvSpPr>
          <p:cNvPr id="13" name="Text 11"/>
          <p:cNvSpPr/>
          <p:nvPr/>
        </p:nvSpPr>
        <p:spPr>
          <a:xfrm>
            <a:off x="6675120" y="868680"/>
            <a:ext cx="2194560" cy="274320"/>
          </a:xfrm>
          <a:prstGeom prst="rect">
            <a:avLst/>
          </a:prstGeom>
          <a:noFill/>
          <a:ln/>
        </p:spPr>
        <p:txBody>
          <a:bodyPr wrap="square" rtlCol="0" anchor="ctr"/>
          <a:lstStyle/>
          <a:p>
            <a:pPr indent="0" marL="0">
              <a:buNone/>
            </a:pPr>
            <a:r>
              <a:rPr lang="en-US" sz="900" b="1" dirty="0">
                <a:solidFill>
                  <a:srgbClr val="4ADE80"/>
                </a:solidFill>
                <a:latin typeface="Arial" pitchFamily="34" charset="0"/>
                <a:ea typeface="Arial" pitchFamily="34" charset="-122"/>
                <a:cs typeface="Arial" pitchFamily="34" charset="-120"/>
              </a:rPr>
              <a:t>OUTPUT</a:t>
            </a:r>
            <a:endParaRPr lang="en-US" sz="900" dirty="0"/>
          </a:p>
        </p:txBody>
      </p:sp>
      <p:sp>
        <p:nvSpPr>
          <p:cNvPr id="14" name="Text 12"/>
          <p:cNvSpPr/>
          <p:nvPr/>
        </p:nvSpPr>
        <p:spPr>
          <a:xfrm>
            <a:off x="6675120" y="1124712"/>
            <a:ext cx="219456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Break points detected:</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Jan 2018 (VAT shock)</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Jan 2019 (deflation onset)</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Apr 2022 (oil spike)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Aug 2022 (peak)</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Oct 2018 (VAT fadeout)</a:t>
            </a:r>
            <a:endParaRPr lang="en-US" sz="800" dirty="0"/>
          </a:p>
        </p:txBody>
      </p:sp>
      <p:sp>
        <p:nvSpPr>
          <p:cNvPr id="15" name="Shape 13"/>
          <p:cNvSpPr/>
          <p:nvPr/>
        </p:nvSpPr>
        <p:spPr>
          <a:xfrm>
            <a:off x="274320" y="2057400"/>
            <a:ext cx="4846320" cy="1143000"/>
          </a:xfrm>
          <a:prstGeom prst="roundRect">
            <a:avLst>
              <a:gd name="adj" fmla="val 4800"/>
            </a:avLst>
          </a:prstGeom>
          <a:solidFill>
            <a:srgbClr val="0D1117"/>
          </a:solidFill>
          <a:ln/>
        </p:spPr>
      </p:sp>
      <p:sp>
        <p:nvSpPr>
          <p:cNvPr id="16" name="Text 14"/>
          <p:cNvSpPr/>
          <p:nvPr/>
        </p:nvSpPr>
        <p:spPr>
          <a:xfrm>
            <a:off x="365760" y="2057400"/>
            <a:ext cx="4663440" cy="1143000"/>
          </a:xfrm>
          <a:prstGeom prst="rect">
            <a:avLst/>
          </a:prstGeom>
          <a:noFill/>
          <a:ln/>
        </p:spPr>
        <p:txBody>
          <a:bodyPr wrap="square" rtlCol="0" anchor="t"/>
          <a:lstStyle/>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overall_mean = all_items.mean()   # → 1.48%</a:t>
            </a:r>
            <a:endParaRPr lang="en-US" sz="800" dirty="0"/>
          </a:p>
          <a:p>
            <a:pPr indent="0" marL="0">
              <a:lnSpc>
                <a:spcPct val="130000"/>
              </a:lnSpc>
              <a:buNone/>
            </a:pP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cusum = (all_items - overall_mean).cumsum()</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each month: add (inflation - mean) to running total</a:t>
            </a:r>
            <a:endParaRPr lang="en-US" sz="800" dirty="0"/>
          </a:p>
          <a:p>
            <a:pPr indent="0" marL="0">
              <a:lnSpc>
                <a:spcPct val="130000"/>
              </a:lnSpc>
              <a:buNone/>
            </a:pP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Detect breaks: where slope changes most sharply</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cusum_diff2 = cusum.diff().diff()  # 2nd derivative</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breaks = cusum_diff2.abs().nlargest(5).index  # top 5 kinks</a:t>
            </a:r>
            <a:endParaRPr lang="en-US" sz="800" dirty="0"/>
          </a:p>
        </p:txBody>
      </p:sp>
      <p:sp>
        <p:nvSpPr>
          <p:cNvPr id="17" name="Shape 15"/>
          <p:cNvSpPr/>
          <p:nvPr/>
        </p:nvSpPr>
        <p:spPr>
          <a:xfrm>
            <a:off x="5303520" y="2057400"/>
            <a:ext cx="3657600" cy="1143000"/>
          </a:xfrm>
          <a:prstGeom prst="roundRect">
            <a:avLst>
              <a:gd name="adj" fmla="val 4800"/>
            </a:avLst>
          </a:prstGeom>
          <a:solidFill>
            <a:srgbClr val="151E2D"/>
          </a:solidFill>
          <a:ln w="6350">
            <a:solidFill>
              <a:srgbClr val="A78BFA"/>
            </a:solidFill>
            <a:prstDash val="solid"/>
          </a:ln>
        </p:spPr>
      </p:sp>
      <p:sp>
        <p:nvSpPr>
          <p:cNvPr id="18" name="Text 16"/>
          <p:cNvSpPr/>
          <p:nvPr/>
        </p:nvSpPr>
        <p:spPr>
          <a:xfrm>
            <a:off x="5394960" y="2103120"/>
            <a:ext cx="3474720" cy="27432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WHY CUSUM?</a:t>
            </a:r>
            <a:endParaRPr lang="en-US" sz="900" dirty="0"/>
          </a:p>
        </p:txBody>
      </p:sp>
      <p:sp>
        <p:nvSpPr>
          <p:cNvPr id="19" name="Text 17"/>
          <p:cNvSpPr/>
          <p:nvPr/>
        </p:nvSpPr>
        <p:spPr>
          <a:xfrm>
            <a:off x="5394960" y="2359152"/>
            <a:ext cx="3474720" cy="79552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 Non-parametric — no distributional assumptions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Extremely simple to compute and interpret visually</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The 'standard' method in quality control for detecting process shifts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Works on a single series (unlike Granger which needs pairs)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Complementary to HDBSCAN: CUSUM gives WHEN, HDBSCAN gives WHAT</a:t>
            </a:r>
            <a:endParaRPr lang="en-US" sz="800" dirty="0"/>
          </a:p>
        </p:txBody>
      </p:sp>
      <p:sp>
        <p:nvSpPr>
          <p:cNvPr id="20" name="Shape 18"/>
          <p:cNvSpPr/>
          <p:nvPr/>
        </p:nvSpPr>
        <p:spPr>
          <a:xfrm>
            <a:off x="274320" y="3337560"/>
            <a:ext cx="8686800" cy="1600200"/>
          </a:xfrm>
          <a:prstGeom prst="roundRect">
            <a:avLst>
              <a:gd name="adj" fmla="val 3429"/>
            </a:avLst>
          </a:prstGeom>
          <a:solidFill>
            <a:srgbClr val="151E2D"/>
          </a:solidFill>
          <a:ln w="6350">
            <a:solidFill>
              <a:srgbClr val="FBBF24"/>
            </a:solidFill>
            <a:prstDash val="solid"/>
          </a:ln>
        </p:spPr>
      </p:sp>
      <p:sp>
        <p:nvSpPr>
          <p:cNvPr id="21" name="Text 19"/>
          <p:cNvSpPr/>
          <p:nvPr/>
        </p:nvSpPr>
        <p:spPr>
          <a:xfrm>
            <a:off x="365760" y="3383280"/>
            <a:ext cx="850392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WHERE THIS FITS IN THE BIGGER STORY</a:t>
            </a:r>
            <a:endParaRPr lang="en-US" sz="900" dirty="0"/>
          </a:p>
        </p:txBody>
      </p:sp>
      <p:sp>
        <p:nvSpPr>
          <p:cNvPr id="22" name="Text 20"/>
          <p:cNvSpPr/>
          <p:nvPr/>
        </p:nvSpPr>
        <p:spPr>
          <a:xfrm>
            <a:off x="365760" y="3639312"/>
            <a:ext cx="8503920" cy="125272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CUSUM detected Jan 2018, Jan 2019, and Apr 2022 as the three sharpest regime changes — exactly matching our narrative timeline. This is independent confirmation: HDBSCAN found the regimes from sector profiles, CUSUM found the transition points from the headline series, and our economic narrative identified the same events from domain knowledge. Three completely different methods converging on the same answer.</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The CUSUM chart itself is one of the most powerful visuals: you can literally SEE the economy accumulating above-average inflation during the boom, then the slope reversing sharply into deflation, then reversing again in recovery. It makes the abstract concept of 'structural breaks' visually concrete.</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Used in: PPT Slide 7 ('CUSUM confirms 5 regime changes'), Dashboard Tab 2 (structural breaks chart), Notebook Cell 11</a:t>
            </a:r>
            <a:endParaRPr lang="en-US" sz="800" dirty="0"/>
          </a:p>
        </p:txBody>
      </p:sp>
      <p:sp>
        <p:nvSpPr>
          <p:cNvPr id="23" name="Text 21"/>
          <p:cNvSpPr/>
          <p:nvPr/>
        </p:nvSpPr>
        <p:spPr>
          <a:xfrm>
            <a:off x="8321040" y="4892040"/>
            <a:ext cx="640080" cy="182880"/>
          </a:xfrm>
          <a:prstGeom prst="rect">
            <a:avLst/>
          </a:prstGeom>
          <a:noFill/>
          <a:ln/>
        </p:spPr>
        <p:txBody>
          <a:bodyPr wrap="square" rtlCol="0" anchor="ctr"/>
          <a:lstStyle/>
          <a:p>
            <a:pPr algn="r" indent="0" marL="0">
              <a:buNone/>
            </a:pPr>
            <a:r>
              <a:rPr lang="en-US" sz="800" dirty="0">
                <a:solidFill>
                  <a:srgbClr val="8896AB"/>
                </a:solidFill>
                <a:latin typeface="Arial" pitchFamily="34" charset="0"/>
                <a:ea typeface="Arial" pitchFamily="34" charset="-122"/>
                <a:cs typeface="Arial" pitchFamily="34" charset="-120"/>
              </a:rPr>
              <a:t>8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274320" y="182880"/>
            <a:ext cx="411480" cy="411480"/>
          </a:xfrm>
          <a:prstGeom prst="ellipse">
            <a:avLst/>
          </a:prstGeom>
          <a:solidFill>
            <a:srgbClr val="FBBF24"/>
          </a:solidFill>
          <a:ln/>
        </p:spPr>
      </p:sp>
      <p:sp>
        <p:nvSpPr>
          <p:cNvPr id="3" name="Text 1"/>
          <p:cNvSpPr/>
          <p:nvPr/>
        </p:nvSpPr>
        <p:spPr>
          <a:xfrm>
            <a:off x="274320" y="182880"/>
            <a:ext cx="411480" cy="411480"/>
          </a:xfrm>
          <a:prstGeom prst="rect">
            <a:avLst/>
          </a:prstGeom>
          <a:noFill/>
          <a:ln/>
        </p:spPr>
        <p:txBody>
          <a:bodyPr wrap="square" rtlCol="0" anchor="ctr"/>
          <a:lstStyle/>
          <a:p>
            <a:pPr algn="ctr" indent="0" marL="0">
              <a:buNone/>
            </a:pPr>
            <a:r>
              <a:rPr lang="en-US" sz="1800" b="1" dirty="0">
                <a:solidFill>
                  <a:srgbClr val="0F1419"/>
                </a:solidFill>
                <a:latin typeface="Arial" pitchFamily="34" charset="0"/>
                <a:ea typeface="Arial" pitchFamily="34" charset="-122"/>
                <a:cs typeface="Arial" pitchFamily="34" charset="-120"/>
              </a:rPr>
              <a:t>8</a:t>
            </a:r>
            <a:endParaRPr lang="en-US" sz="1800" dirty="0"/>
          </a:p>
        </p:txBody>
      </p:sp>
      <p:sp>
        <p:nvSpPr>
          <p:cNvPr id="4" name="Text 2"/>
          <p:cNvSpPr/>
          <p:nvPr/>
        </p:nvSpPr>
        <p:spPr>
          <a:xfrm>
            <a:off x="822960" y="201168"/>
            <a:ext cx="5486400" cy="365760"/>
          </a:xfrm>
          <a:prstGeom prst="rect">
            <a:avLst/>
          </a:prstGeom>
          <a:noFill/>
          <a:ln/>
        </p:spPr>
        <p:txBody>
          <a:bodyPr wrap="square" rtlCol="0" anchor="ctr"/>
          <a:lstStyle/>
          <a:p>
            <a:pPr indent="0" marL="0">
              <a:buNone/>
            </a:pPr>
            <a:r>
              <a:rPr lang="en-US" sz="2000" b="1" dirty="0">
                <a:solidFill>
                  <a:srgbClr val="FBBF24"/>
                </a:solidFill>
                <a:latin typeface="Georgia" pitchFamily="34" charset="0"/>
                <a:ea typeface="Georgia" pitchFamily="34" charset="-122"/>
                <a:cs typeface="Georgia" pitchFamily="34" charset="-120"/>
              </a:rPr>
              <a:t>Z-Score Sector Profiling</a:t>
            </a:r>
            <a:endParaRPr lang="en-US" sz="2000" dirty="0"/>
          </a:p>
        </p:txBody>
      </p:sp>
      <p:sp>
        <p:nvSpPr>
          <p:cNvPr id="5" name="Text 3"/>
          <p:cNvSpPr/>
          <p:nvPr/>
        </p:nvSpPr>
        <p:spPr>
          <a:xfrm>
            <a:off x="822960" y="521208"/>
            <a:ext cx="7315200" cy="182880"/>
          </a:xfrm>
          <a:prstGeom prst="rect">
            <a:avLst/>
          </a:prstGeom>
          <a:noFill/>
          <a:ln/>
        </p:spPr>
        <p:txBody>
          <a:bodyPr wrap="square" rtlCol="0" anchor="ctr"/>
          <a:lstStyle/>
          <a:p>
            <a:pPr indent="0" marL="0">
              <a:buNone/>
            </a:pPr>
            <a:r>
              <a:rPr lang="en-US" sz="1000" dirty="0">
                <a:solidFill>
                  <a:srgbClr val="8896AB"/>
                </a:solidFill>
                <a:latin typeface="Arial" pitchFamily="34" charset="0"/>
                <a:ea typeface="Arial" pitchFamily="34" charset="-122"/>
                <a:cs typeface="Arial" pitchFamily="34" charset="-120"/>
              </a:rPr>
              <a:t>Is December 2025 inflation normal or abnormal for each sector?</a:t>
            </a:r>
            <a:endParaRPr lang="en-US" sz="1000" dirty="0"/>
          </a:p>
        </p:txBody>
      </p:sp>
      <p:sp>
        <p:nvSpPr>
          <p:cNvPr id="6" name="Shape 4"/>
          <p:cNvSpPr/>
          <p:nvPr/>
        </p:nvSpPr>
        <p:spPr>
          <a:xfrm>
            <a:off x="274320" y="822960"/>
            <a:ext cx="2560320" cy="1097280"/>
          </a:xfrm>
          <a:prstGeom prst="roundRect">
            <a:avLst>
              <a:gd name="adj" fmla="val 5000"/>
            </a:avLst>
          </a:prstGeom>
          <a:solidFill>
            <a:srgbClr val="151E2D"/>
          </a:solidFill>
          <a:ln w="6350">
            <a:solidFill>
              <a:srgbClr val="22D3EE"/>
            </a:solidFill>
            <a:prstDash val="solid"/>
          </a:ln>
        </p:spPr>
      </p:sp>
      <p:sp>
        <p:nvSpPr>
          <p:cNvPr id="7" name="Text 5"/>
          <p:cNvSpPr/>
          <p:nvPr/>
        </p:nvSpPr>
        <p:spPr>
          <a:xfrm>
            <a:off x="365760" y="868680"/>
            <a:ext cx="2377440" cy="274320"/>
          </a:xfrm>
          <a:prstGeom prst="rect">
            <a:avLst/>
          </a:prstGeom>
          <a:noFill/>
          <a:ln/>
        </p:spPr>
        <p:txBody>
          <a:bodyPr wrap="square" rtlCol="0" anchor="ctr"/>
          <a:lstStyle/>
          <a:p>
            <a:pPr indent="0" marL="0">
              <a:buNone/>
            </a:pPr>
            <a:r>
              <a:rPr lang="en-US" sz="900" b="1" dirty="0">
                <a:solidFill>
                  <a:srgbClr val="22D3EE"/>
                </a:solidFill>
                <a:latin typeface="Arial" pitchFamily="34" charset="0"/>
                <a:ea typeface="Arial" pitchFamily="34" charset="-122"/>
                <a:cs typeface="Arial" pitchFamily="34" charset="-120"/>
              </a:rPr>
              <a:t>INPUT</a:t>
            </a:r>
            <a:endParaRPr lang="en-US" sz="900" dirty="0"/>
          </a:p>
        </p:txBody>
      </p:sp>
      <p:sp>
        <p:nvSpPr>
          <p:cNvPr id="8" name="Text 6"/>
          <p:cNvSpPr/>
          <p:nvPr/>
        </p:nvSpPr>
        <p:spPr>
          <a:xfrm>
            <a:off x="365760" y="1124712"/>
            <a:ext cx="237744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Dec 2025 YoY for each sector</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full historical mean &amp; std</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for each sector (2015–2025)</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Calculation per sector</a:t>
            </a:r>
            <a:endParaRPr lang="en-US" sz="800" dirty="0"/>
          </a:p>
        </p:txBody>
      </p:sp>
      <p:sp>
        <p:nvSpPr>
          <p:cNvPr id="9" name="Shape 7"/>
          <p:cNvSpPr/>
          <p:nvPr/>
        </p:nvSpPr>
        <p:spPr>
          <a:xfrm>
            <a:off x="3017520" y="822960"/>
            <a:ext cx="3383280" cy="1097280"/>
          </a:xfrm>
          <a:prstGeom prst="roundRect">
            <a:avLst>
              <a:gd name="adj" fmla="val 5000"/>
            </a:avLst>
          </a:prstGeom>
          <a:solidFill>
            <a:srgbClr val="151E2D"/>
          </a:solidFill>
          <a:ln w="6350">
            <a:solidFill>
              <a:srgbClr val="FBBF24"/>
            </a:solidFill>
            <a:prstDash val="solid"/>
          </a:ln>
        </p:spPr>
      </p:sp>
      <p:sp>
        <p:nvSpPr>
          <p:cNvPr id="10" name="Text 8"/>
          <p:cNvSpPr/>
          <p:nvPr/>
        </p:nvSpPr>
        <p:spPr>
          <a:xfrm>
            <a:off x="3108960" y="868680"/>
            <a:ext cx="320040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METHOD: Z-Score Standardisation</a:t>
            </a:r>
            <a:endParaRPr lang="en-US" sz="900" dirty="0"/>
          </a:p>
        </p:txBody>
      </p:sp>
      <p:sp>
        <p:nvSpPr>
          <p:cNvPr id="11" name="Text 9"/>
          <p:cNvSpPr/>
          <p:nvPr/>
        </p:nvSpPr>
        <p:spPr>
          <a:xfrm>
            <a:off x="3108960" y="1124712"/>
            <a:ext cx="320040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Z = (current − mean) / std</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|Z| &gt; 2  → unusually high or low (2σ outlier)</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|Z| &lt; 1  → within normal range</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Simple but powerful: each sector judged</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against its OWN history, not against others</a:t>
            </a:r>
            <a:endParaRPr lang="en-US" sz="800" dirty="0"/>
          </a:p>
        </p:txBody>
      </p:sp>
      <p:sp>
        <p:nvSpPr>
          <p:cNvPr id="12" name="Shape 10"/>
          <p:cNvSpPr/>
          <p:nvPr/>
        </p:nvSpPr>
        <p:spPr>
          <a:xfrm>
            <a:off x="6583680" y="822960"/>
            <a:ext cx="2377440" cy="1097280"/>
          </a:xfrm>
          <a:prstGeom prst="roundRect">
            <a:avLst>
              <a:gd name="adj" fmla="val 5000"/>
            </a:avLst>
          </a:prstGeom>
          <a:solidFill>
            <a:srgbClr val="151E2D"/>
          </a:solidFill>
          <a:ln w="6350">
            <a:solidFill>
              <a:srgbClr val="4ADE80"/>
            </a:solidFill>
            <a:prstDash val="solid"/>
          </a:ln>
        </p:spPr>
      </p:sp>
      <p:sp>
        <p:nvSpPr>
          <p:cNvPr id="13" name="Text 11"/>
          <p:cNvSpPr/>
          <p:nvPr/>
        </p:nvSpPr>
        <p:spPr>
          <a:xfrm>
            <a:off x="6675120" y="868680"/>
            <a:ext cx="2194560" cy="274320"/>
          </a:xfrm>
          <a:prstGeom prst="rect">
            <a:avLst/>
          </a:prstGeom>
          <a:noFill/>
          <a:ln/>
        </p:spPr>
        <p:txBody>
          <a:bodyPr wrap="square" rtlCol="0" anchor="ctr"/>
          <a:lstStyle/>
          <a:p>
            <a:pPr indent="0" marL="0">
              <a:buNone/>
            </a:pPr>
            <a:r>
              <a:rPr lang="en-US" sz="900" b="1" dirty="0">
                <a:solidFill>
                  <a:srgbClr val="4ADE80"/>
                </a:solidFill>
                <a:latin typeface="Arial" pitchFamily="34" charset="0"/>
                <a:ea typeface="Arial" pitchFamily="34" charset="-122"/>
                <a:cs typeface="Arial" pitchFamily="34" charset="-120"/>
              </a:rPr>
              <a:t>OUTPUT</a:t>
            </a:r>
            <a:endParaRPr lang="en-US" sz="900" dirty="0"/>
          </a:p>
        </p:txBody>
      </p:sp>
      <p:sp>
        <p:nvSpPr>
          <p:cNvPr id="14" name="Text 12"/>
          <p:cNvSpPr/>
          <p:nvPr/>
        </p:nvSpPr>
        <p:spPr>
          <a:xfrm>
            <a:off x="6675120" y="1124712"/>
            <a:ext cx="219456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ALL 13 sectors within ±2σ</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Housing: Z = +0.78 (normal)</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Textiles: Z = -1.18 (moderate)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Rec/Culture: Z = -0.22 (normal)</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No sector is anomalous</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in Dec 2025</a:t>
            </a:r>
            <a:endParaRPr lang="en-US" sz="800" dirty="0"/>
          </a:p>
        </p:txBody>
      </p:sp>
      <p:sp>
        <p:nvSpPr>
          <p:cNvPr id="15" name="Shape 13"/>
          <p:cNvSpPr/>
          <p:nvPr/>
        </p:nvSpPr>
        <p:spPr>
          <a:xfrm>
            <a:off x="274320" y="2057400"/>
            <a:ext cx="4846320" cy="1097280"/>
          </a:xfrm>
          <a:prstGeom prst="roundRect">
            <a:avLst>
              <a:gd name="adj" fmla="val 5000"/>
            </a:avLst>
          </a:prstGeom>
          <a:solidFill>
            <a:srgbClr val="0D1117"/>
          </a:solidFill>
          <a:ln/>
        </p:spPr>
      </p:sp>
      <p:sp>
        <p:nvSpPr>
          <p:cNvPr id="16" name="Text 14"/>
          <p:cNvSpPr/>
          <p:nvPr/>
        </p:nvSpPr>
        <p:spPr>
          <a:xfrm>
            <a:off x="365760" y="2057400"/>
            <a:ext cx="4663440" cy="1097280"/>
          </a:xfrm>
          <a:prstGeom prst="rect">
            <a:avLst/>
          </a:prstGeom>
          <a:noFill/>
          <a:ln/>
        </p:spPr>
        <p:txBody>
          <a:bodyPr wrap="square" rtlCol="0" anchor="t"/>
          <a:lstStyle/>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for sector in sectors:</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current = dec_2025[sector]</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mean = historical[sector].mean()</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std  = historical[sector].std()</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z = (current - mean) / std</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if abs(z) &gt; 2:   status = "OUTLIER"</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elif abs(z) &lt; 1:  status = "Normal"</a:t>
            </a:r>
            <a:endParaRPr lang="en-US" sz="800" dirty="0"/>
          </a:p>
          <a:p>
            <a:pPr indent="0" marL="0">
              <a:lnSpc>
                <a:spcPct val="130000"/>
              </a:lnSpc>
              <a:buNone/>
            </a:pPr>
            <a:r>
              <a:rPr lang="en-US" sz="800" dirty="0">
                <a:solidFill>
                  <a:srgbClr val="4ADE80"/>
                </a:solidFill>
                <a:latin typeface="Consolas" pitchFamily="34" charset="0"/>
                <a:ea typeface="Consolas" pitchFamily="34" charset="-122"/>
                <a:cs typeface="Consolas" pitchFamily="34" charset="-120"/>
              </a:rPr>
              <a:t>    else:             status = "Moderate"</a:t>
            </a:r>
            <a:endParaRPr lang="en-US" sz="800" dirty="0"/>
          </a:p>
        </p:txBody>
      </p:sp>
      <p:sp>
        <p:nvSpPr>
          <p:cNvPr id="17" name="Shape 15"/>
          <p:cNvSpPr/>
          <p:nvPr/>
        </p:nvSpPr>
        <p:spPr>
          <a:xfrm>
            <a:off x="5303520" y="2057400"/>
            <a:ext cx="3657600" cy="1097280"/>
          </a:xfrm>
          <a:prstGeom prst="roundRect">
            <a:avLst>
              <a:gd name="adj" fmla="val 5000"/>
            </a:avLst>
          </a:prstGeom>
          <a:solidFill>
            <a:srgbClr val="151E2D"/>
          </a:solidFill>
          <a:ln w="6350">
            <a:solidFill>
              <a:srgbClr val="A78BFA"/>
            </a:solidFill>
            <a:prstDash val="solid"/>
          </a:ln>
        </p:spPr>
      </p:sp>
      <p:sp>
        <p:nvSpPr>
          <p:cNvPr id="18" name="Text 16"/>
          <p:cNvSpPr/>
          <p:nvPr/>
        </p:nvSpPr>
        <p:spPr>
          <a:xfrm>
            <a:off x="5394960" y="2103120"/>
            <a:ext cx="3474720" cy="27432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WHY Z-SCORES?</a:t>
            </a:r>
            <a:endParaRPr lang="en-US" sz="900" dirty="0"/>
          </a:p>
        </p:txBody>
      </p:sp>
      <p:sp>
        <p:nvSpPr>
          <p:cNvPr id="19" name="Text 17"/>
          <p:cNvSpPr/>
          <p:nvPr/>
        </p:nvSpPr>
        <p:spPr>
          <a:xfrm>
            <a:off x="5394960" y="2359152"/>
            <a:ext cx="3474720" cy="74980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 Accounts for each sector's own volatility range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Housing at +4% sounds high, but its std is 4.2% → Z=+0.78 is normal</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Tobacco at +1.6% sounds low, but its std is 23% → Z≈0 is normal</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No assumptions about distribution shape</a:t>
            </a: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 Immediately interpretable: 'How many standard deviations from normal?'</a:t>
            </a:r>
            <a:endParaRPr lang="en-US" sz="800" dirty="0"/>
          </a:p>
        </p:txBody>
      </p:sp>
      <p:sp>
        <p:nvSpPr>
          <p:cNvPr id="20" name="Shape 18"/>
          <p:cNvSpPr/>
          <p:nvPr/>
        </p:nvSpPr>
        <p:spPr>
          <a:xfrm>
            <a:off x="274320" y="3291840"/>
            <a:ext cx="8686800" cy="1645920"/>
          </a:xfrm>
          <a:prstGeom prst="roundRect">
            <a:avLst>
              <a:gd name="adj" fmla="val 3333"/>
            </a:avLst>
          </a:prstGeom>
          <a:solidFill>
            <a:srgbClr val="151E2D"/>
          </a:solidFill>
          <a:ln w="6350">
            <a:solidFill>
              <a:srgbClr val="FBBF24"/>
            </a:solidFill>
            <a:prstDash val="solid"/>
          </a:ln>
        </p:spPr>
      </p:sp>
      <p:sp>
        <p:nvSpPr>
          <p:cNvPr id="21" name="Text 19"/>
          <p:cNvSpPr/>
          <p:nvPr/>
        </p:nvSpPr>
        <p:spPr>
          <a:xfrm>
            <a:off x="365760" y="3337560"/>
            <a:ext cx="8503920" cy="27432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WHERE THIS FITS IN THE BIGGER STORY</a:t>
            </a:r>
            <a:endParaRPr lang="en-US" sz="900" dirty="0"/>
          </a:p>
        </p:txBody>
      </p:sp>
      <p:sp>
        <p:nvSpPr>
          <p:cNvPr id="22" name="Text 20"/>
          <p:cNvSpPr/>
          <p:nvPr/>
        </p:nvSpPr>
        <p:spPr>
          <a:xfrm>
            <a:off x="365760" y="3593592"/>
            <a:ext cx="8503920" cy="1298448"/>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The most important finding here is what we DON'T find: no sector is behaving anomalously in Dec 2025. Housing at +4% feels high, but relative to its own history (which includes +10% in 2015), it's within 1 standard deviation. Textiles at −5% is moderate at Z = −1.18 — it's been there before.</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This means the current two-speed economy is not a crisis or an anomaly — it's a STRUCTURAL condition. The UAE's inflation pattern has settled into a new equilibrium: non-tradeables inflating (housing, services) while tradeables deflate (clothing, goods). This is the key message for policymakers: don't expect this to 'fix itself' — it's the new normal created by the dollar peg + population growth + import openness.</a:t>
            </a:r>
            <a:endParaRPr lang="en-US" sz="800" dirty="0"/>
          </a:p>
          <a:p>
            <a:pPr indent="0" marL="0">
              <a:buNone/>
            </a:pPr>
            <a:endParaRPr lang="en-US" sz="800" dirty="0"/>
          </a:p>
          <a:p>
            <a:pPr indent="0" marL="0">
              <a:buNone/>
            </a:pPr>
            <a:r>
              <a:rPr lang="en-US" sz="800" dirty="0">
                <a:solidFill>
                  <a:srgbClr val="8896AB"/>
                </a:solidFill>
                <a:latin typeface="Arial" pitchFamily="34" charset="0"/>
                <a:ea typeface="Arial" pitchFamily="34" charset="-122"/>
                <a:cs typeface="Arial" pitchFamily="34" charset="-120"/>
              </a:rPr>
              <a:t>Used in: Dashboard Tab 6 (anomalies — confirming 2025 is not anomalous), PPT Slide 8 (takeaway #5: two-speed economy), Q&amp;A on 'is this sustainable?'</a:t>
            </a:r>
            <a:endParaRPr lang="en-US" sz="800" dirty="0"/>
          </a:p>
        </p:txBody>
      </p:sp>
      <p:sp>
        <p:nvSpPr>
          <p:cNvPr id="23" name="Text 21"/>
          <p:cNvSpPr/>
          <p:nvPr/>
        </p:nvSpPr>
        <p:spPr>
          <a:xfrm>
            <a:off x="8321040" y="4892040"/>
            <a:ext cx="640080" cy="182880"/>
          </a:xfrm>
          <a:prstGeom prst="rect">
            <a:avLst/>
          </a:prstGeom>
          <a:noFill/>
          <a:ln/>
        </p:spPr>
        <p:txBody>
          <a:bodyPr wrap="square" rtlCol="0" anchor="ctr"/>
          <a:lstStyle/>
          <a:p>
            <a:pPr algn="r" indent="0" marL="0">
              <a:buNone/>
            </a:pPr>
            <a:r>
              <a:rPr lang="en-US" sz="800" dirty="0">
                <a:solidFill>
                  <a:srgbClr val="8896AB"/>
                </a:solidFill>
                <a:latin typeface="Arial" pitchFamily="34" charset="0"/>
                <a:ea typeface="Arial" pitchFamily="34" charset="-122"/>
                <a:cs typeface="Arial" pitchFamily="34" charset="-120"/>
              </a:rPr>
              <a:t>9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0" y="0"/>
            <a:ext cx="9144000" cy="27432"/>
          </a:xfrm>
          <a:prstGeom prst="rect">
            <a:avLst/>
          </a:prstGeom>
          <a:solidFill>
            <a:srgbClr val="A78BFA"/>
          </a:solidFill>
          <a:ln/>
        </p:spPr>
      </p:sp>
      <p:sp>
        <p:nvSpPr>
          <p:cNvPr id="3" name="Text 1"/>
          <p:cNvSpPr/>
          <p:nvPr/>
        </p:nvSpPr>
        <p:spPr>
          <a:xfrm>
            <a:off x="274320" y="182880"/>
            <a:ext cx="8595360" cy="457200"/>
          </a:xfrm>
          <a:prstGeom prst="rect">
            <a:avLst/>
          </a:prstGeom>
          <a:noFill/>
          <a:ln/>
        </p:spPr>
        <p:txBody>
          <a:bodyPr wrap="square" rtlCol="0" anchor="ctr"/>
          <a:lstStyle/>
          <a:p>
            <a:pPr indent="0" marL="0">
              <a:buNone/>
            </a:pPr>
            <a:r>
              <a:rPr lang="en-US" sz="2200" b="1" dirty="0">
                <a:solidFill>
                  <a:srgbClr val="22D3EE"/>
                </a:solidFill>
                <a:latin typeface="Georgia" pitchFamily="34" charset="0"/>
                <a:ea typeface="Georgia" pitchFamily="34" charset="-122"/>
                <a:cs typeface="Georgia" pitchFamily="34" charset="-120"/>
              </a:rPr>
              <a:t>Methods Summary: How Everything Connects</a:t>
            </a:r>
            <a:endParaRPr lang="en-US" sz="2200" dirty="0"/>
          </a:p>
        </p:txBody>
      </p:sp>
      <p:sp>
        <p:nvSpPr>
          <p:cNvPr id="4" name="Shape 2"/>
          <p:cNvSpPr/>
          <p:nvPr/>
        </p:nvSpPr>
        <p:spPr>
          <a:xfrm>
            <a:off x="274320" y="731520"/>
            <a:ext cx="8595360" cy="457200"/>
          </a:xfrm>
          <a:prstGeom prst="roundRect">
            <a:avLst>
              <a:gd name="adj" fmla="val 8000"/>
            </a:avLst>
          </a:prstGeom>
          <a:solidFill>
            <a:srgbClr val="151E2D"/>
          </a:solidFill>
          <a:ln/>
        </p:spPr>
      </p:sp>
      <p:sp>
        <p:nvSpPr>
          <p:cNvPr id="5" name="Shape 3"/>
          <p:cNvSpPr/>
          <p:nvPr/>
        </p:nvSpPr>
        <p:spPr>
          <a:xfrm>
            <a:off x="274320" y="731520"/>
            <a:ext cx="36576" cy="457200"/>
          </a:xfrm>
          <a:prstGeom prst="rect">
            <a:avLst/>
          </a:prstGeom>
          <a:solidFill>
            <a:srgbClr val="F87171"/>
          </a:solidFill>
          <a:ln/>
        </p:spPr>
      </p:sp>
      <p:sp>
        <p:nvSpPr>
          <p:cNvPr id="6" name="Text 4"/>
          <p:cNvSpPr/>
          <p:nvPr/>
        </p:nvSpPr>
        <p:spPr>
          <a:xfrm>
            <a:off x="411480" y="731520"/>
            <a:ext cx="1828800" cy="45720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Weight Estimation</a:t>
            </a:r>
            <a:endParaRPr lang="en-US" sz="900" dirty="0"/>
          </a:p>
        </p:txBody>
      </p:sp>
      <p:sp>
        <p:nvSpPr>
          <p:cNvPr id="7" name="Text 5"/>
          <p:cNvSpPr/>
          <p:nvPr/>
        </p:nvSpPr>
        <p:spPr>
          <a:xfrm>
            <a:off x="2286000" y="731520"/>
            <a:ext cx="1188720" cy="457200"/>
          </a:xfrm>
          <a:prstGeom prst="rect">
            <a:avLst/>
          </a:prstGeom>
          <a:noFill/>
          <a:ln/>
        </p:spPr>
        <p:txBody>
          <a:bodyPr wrap="square" rtlCol="0" anchor="ctr"/>
          <a:lstStyle/>
          <a:p>
            <a:pPr indent="0" marL="0">
              <a:buNone/>
            </a:pPr>
            <a:r>
              <a:rPr lang="en-US" sz="800" dirty="0">
                <a:solidFill>
                  <a:srgbClr val="8896AB"/>
                </a:solidFill>
                <a:latin typeface="Consolas" pitchFamily="34" charset="0"/>
                <a:ea typeface="Consolas" pitchFamily="34" charset="-122"/>
                <a:cs typeface="Consolas" pitchFamily="34" charset="-120"/>
              </a:rPr>
              <a:t>scipy.optimize</a:t>
            </a:r>
            <a:endParaRPr lang="en-US" sz="800" dirty="0"/>
          </a:p>
        </p:txBody>
      </p:sp>
      <p:sp>
        <p:nvSpPr>
          <p:cNvPr id="8" name="Text 6"/>
          <p:cNvSpPr/>
          <p:nvPr/>
        </p:nvSpPr>
        <p:spPr>
          <a:xfrm>
            <a:off x="3520440" y="731520"/>
            <a:ext cx="2194560" cy="457200"/>
          </a:xfrm>
          <a:prstGeom prst="rect">
            <a:avLst/>
          </a:prstGeom>
          <a:noFill/>
          <a:ln/>
        </p:spPr>
        <p:txBody>
          <a:bodyPr wrap="square" rtlCol="0" anchor="ctr"/>
          <a:lstStyle/>
          <a:p>
            <a:pPr indent="0" marL="0">
              <a:buNone/>
            </a:pPr>
            <a:r>
              <a:rPr lang="en-US" sz="900" b="1" dirty="0">
                <a:solidFill>
                  <a:srgbClr val="F87171"/>
                </a:solidFill>
                <a:latin typeface="Arial" pitchFamily="34" charset="0"/>
                <a:ea typeface="Arial" pitchFamily="34" charset="-122"/>
                <a:cs typeface="Arial" pitchFamily="34" charset="-120"/>
              </a:rPr>
              <a:t>Housing = 35.2%</a:t>
            </a:r>
            <a:endParaRPr lang="en-US" sz="900" dirty="0"/>
          </a:p>
        </p:txBody>
      </p:sp>
      <p:sp>
        <p:nvSpPr>
          <p:cNvPr id="9" name="Text 7"/>
          <p:cNvSpPr/>
          <p:nvPr/>
        </p:nvSpPr>
        <p:spPr>
          <a:xfrm>
            <a:off x="5760720" y="731520"/>
            <a:ext cx="3017520" cy="457200"/>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Foundation: why Housing dominates</a:t>
            </a:r>
            <a:endParaRPr lang="en-US" sz="800" dirty="0"/>
          </a:p>
        </p:txBody>
      </p:sp>
      <p:sp>
        <p:nvSpPr>
          <p:cNvPr id="10" name="Shape 8"/>
          <p:cNvSpPr/>
          <p:nvPr/>
        </p:nvSpPr>
        <p:spPr>
          <a:xfrm>
            <a:off x="274320" y="1261872"/>
            <a:ext cx="8595360" cy="457200"/>
          </a:xfrm>
          <a:prstGeom prst="roundRect">
            <a:avLst>
              <a:gd name="adj" fmla="val 8000"/>
            </a:avLst>
          </a:prstGeom>
          <a:solidFill>
            <a:srgbClr val="1A2538"/>
          </a:solidFill>
          <a:ln/>
        </p:spPr>
      </p:sp>
      <p:sp>
        <p:nvSpPr>
          <p:cNvPr id="11" name="Shape 9"/>
          <p:cNvSpPr/>
          <p:nvPr/>
        </p:nvSpPr>
        <p:spPr>
          <a:xfrm>
            <a:off x="274320" y="1261872"/>
            <a:ext cx="36576" cy="457200"/>
          </a:xfrm>
          <a:prstGeom prst="rect">
            <a:avLst/>
          </a:prstGeom>
          <a:solidFill>
            <a:srgbClr val="FBBF24"/>
          </a:solidFill>
          <a:ln/>
        </p:spPr>
      </p:sp>
      <p:sp>
        <p:nvSpPr>
          <p:cNvPr id="12" name="Text 10"/>
          <p:cNvSpPr/>
          <p:nvPr/>
        </p:nvSpPr>
        <p:spPr>
          <a:xfrm>
            <a:off x="411480" y="1261872"/>
            <a:ext cx="1828800" cy="45720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STL Decomposition</a:t>
            </a:r>
            <a:endParaRPr lang="en-US" sz="900" dirty="0"/>
          </a:p>
        </p:txBody>
      </p:sp>
      <p:sp>
        <p:nvSpPr>
          <p:cNvPr id="13" name="Text 11"/>
          <p:cNvSpPr/>
          <p:nvPr/>
        </p:nvSpPr>
        <p:spPr>
          <a:xfrm>
            <a:off x="2286000" y="1261872"/>
            <a:ext cx="1188720" cy="457200"/>
          </a:xfrm>
          <a:prstGeom prst="rect">
            <a:avLst/>
          </a:prstGeom>
          <a:noFill/>
          <a:ln/>
        </p:spPr>
        <p:txBody>
          <a:bodyPr wrap="square" rtlCol="0" anchor="ctr"/>
          <a:lstStyle/>
          <a:p>
            <a:pPr indent="0" marL="0">
              <a:buNone/>
            </a:pPr>
            <a:r>
              <a:rPr lang="en-US" sz="800" dirty="0">
                <a:solidFill>
                  <a:srgbClr val="8896AB"/>
                </a:solidFill>
                <a:latin typeface="Consolas" pitchFamily="34" charset="0"/>
                <a:ea typeface="Consolas" pitchFamily="34" charset="-122"/>
                <a:cs typeface="Consolas" pitchFamily="34" charset="-120"/>
              </a:rPr>
              <a:t>statsmodels</a:t>
            </a:r>
            <a:endParaRPr lang="en-US" sz="800" dirty="0"/>
          </a:p>
        </p:txBody>
      </p:sp>
      <p:sp>
        <p:nvSpPr>
          <p:cNvPr id="14" name="Text 12"/>
          <p:cNvSpPr/>
          <p:nvPr/>
        </p:nvSpPr>
        <p:spPr>
          <a:xfrm>
            <a:off x="3520440" y="1261872"/>
            <a:ext cx="2194560" cy="45720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Trend = 86%</a:t>
            </a:r>
            <a:endParaRPr lang="en-US" sz="900" dirty="0"/>
          </a:p>
        </p:txBody>
      </p:sp>
      <p:sp>
        <p:nvSpPr>
          <p:cNvPr id="15" name="Text 13"/>
          <p:cNvSpPr/>
          <p:nvPr/>
        </p:nvSpPr>
        <p:spPr>
          <a:xfrm>
            <a:off x="5760720" y="1261872"/>
            <a:ext cx="3017520" cy="457200"/>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Justification: focus on structural forces</a:t>
            </a:r>
            <a:endParaRPr lang="en-US" sz="800" dirty="0"/>
          </a:p>
        </p:txBody>
      </p:sp>
      <p:sp>
        <p:nvSpPr>
          <p:cNvPr id="16" name="Shape 14"/>
          <p:cNvSpPr/>
          <p:nvPr/>
        </p:nvSpPr>
        <p:spPr>
          <a:xfrm>
            <a:off x="274320" y="1792224"/>
            <a:ext cx="8595360" cy="457200"/>
          </a:xfrm>
          <a:prstGeom prst="roundRect">
            <a:avLst>
              <a:gd name="adj" fmla="val 8000"/>
            </a:avLst>
          </a:prstGeom>
          <a:solidFill>
            <a:srgbClr val="151E2D"/>
          </a:solidFill>
          <a:ln/>
        </p:spPr>
      </p:sp>
      <p:sp>
        <p:nvSpPr>
          <p:cNvPr id="17" name="Shape 15"/>
          <p:cNvSpPr/>
          <p:nvPr/>
        </p:nvSpPr>
        <p:spPr>
          <a:xfrm>
            <a:off x="274320" y="1792224"/>
            <a:ext cx="36576" cy="457200"/>
          </a:xfrm>
          <a:prstGeom prst="rect">
            <a:avLst/>
          </a:prstGeom>
          <a:solidFill>
            <a:srgbClr val="A78BFA"/>
          </a:solidFill>
          <a:ln/>
        </p:spPr>
      </p:sp>
      <p:sp>
        <p:nvSpPr>
          <p:cNvPr id="18" name="Text 16"/>
          <p:cNvSpPr/>
          <p:nvPr/>
        </p:nvSpPr>
        <p:spPr>
          <a:xfrm>
            <a:off x="411480" y="1792224"/>
            <a:ext cx="1828800" cy="45720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Granger Causality</a:t>
            </a:r>
            <a:endParaRPr lang="en-US" sz="900" dirty="0"/>
          </a:p>
        </p:txBody>
      </p:sp>
      <p:sp>
        <p:nvSpPr>
          <p:cNvPr id="19" name="Text 17"/>
          <p:cNvSpPr/>
          <p:nvPr/>
        </p:nvSpPr>
        <p:spPr>
          <a:xfrm>
            <a:off x="2286000" y="1792224"/>
            <a:ext cx="1188720" cy="457200"/>
          </a:xfrm>
          <a:prstGeom prst="rect">
            <a:avLst/>
          </a:prstGeom>
          <a:noFill/>
          <a:ln/>
        </p:spPr>
        <p:txBody>
          <a:bodyPr wrap="square" rtlCol="0" anchor="ctr"/>
          <a:lstStyle/>
          <a:p>
            <a:pPr indent="0" marL="0">
              <a:buNone/>
            </a:pPr>
            <a:r>
              <a:rPr lang="en-US" sz="800" dirty="0">
                <a:solidFill>
                  <a:srgbClr val="8896AB"/>
                </a:solidFill>
                <a:latin typeface="Consolas" pitchFamily="34" charset="0"/>
                <a:ea typeface="Consolas" pitchFamily="34" charset="-122"/>
                <a:cs typeface="Consolas" pitchFamily="34" charset="-120"/>
              </a:rPr>
              <a:t>statsmodels</a:t>
            </a:r>
            <a:endParaRPr lang="en-US" sz="800" dirty="0"/>
          </a:p>
        </p:txBody>
      </p:sp>
      <p:sp>
        <p:nvSpPr>
          <p:cNvPr id="20" name="Text 18"/>
          <p:cNvSpPr/>
          <p:nvPr/>
        </p:nvSpPr>
        <p:spPr>
          <a:xfrm>
            <a:off x="3520440" y="1792224"/>
            <a:ext cx="2194560" cy="45720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Housing LEADS CPI</a:t>
            </a:r>
            <a:endParaRPr lang="en-US" sz="900" dirty="0"/>
          </a:p>
        </p:txBody>
      </p:sp>
      <p:sp>
        <p:nvSpPr>
          <p:cNvPr id="21" name="Text 19"/>
          <p:cNvSpPr/>
          <p:nvPr/>
        </p:nvSpPr>
        <p:spPr>
          <a:xfrm>
            <a:off x="5760720" y="1792224"/>
            <a:ext cx="3017520" cy="457200"/>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Policy: Housing is early warning signal</a:t>
            </a:r>
            <a:endParaRPr lang="en-US" sz="800" dirty="0"/>
          </a:p>
        </p:txBody>
      </p:sp>
      <p:sp>
        <p:nvSpPr>
          <p:cNvPr id="22" name="Shape 20"/>
          <p:cNvSpPr/>
          <p:nvPr/>
        </p:nvSpPr>
        <p:spPr>
          <a:xfrm>
            <a:off x="274320" y="2322576"/>
            <a:ext cx="8595360" cy="457200"/>
          </a:xfrm>
          <a:prstGeom prst="roundRect">
            <a:avLst>
              <a:gd name="adj" fmla="val 8000"/>
            </a:avLst>
          </a:prstGeom>
          <a:solidFill>
            <a:srgbClr val="1A2538"/>
          </a:solidFill>
          <a:ln/>
        </p:spPr>
      </p:sp>
      <p:sp>
        <p:nvSpPr>
          <p:cNvPr id="23" name="Shape 21"/>
          <p:cNvSpPr/>
          <p:nvPr/>
        </p:nvSpPr>
        <p:spPr>
          <a:xfrm>
            <a:off x="274320" y="2322576"/>
            <a:ext cx="36576" cy="457200"/>
          </a:xfrm>
          <a:prstGeom prst="rect">
            <a:avLst/>
          </a:prstGeom>
          <a:solidFill>
            <a:srgbClr val="4ADE80"/>
          </a:solidFill>
          <a:ln/>
        </p:spPr>
      </p:sp>
      <p:sp>
        <p:nvSpPr>
          <p:cNvPr id="24" name="Text 22"/>
          <p:cNvSpPr/>
          <p:nvPr/>
        </p:nvSpPr>
        <p:spPr>
          <a:xfrm>
            <a:off x="411480" y="2322576"/>
            <a:ext cx="1828800" cy="45720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HDBSCAN</a:t>
            </a:r>
            <a:endParaRPr lang="en-US" sz="900" dirty="0"/>
          </a:p>
        </p:txBody>
      </p:sp>
      <p:sp>
        <p:nvSpPr>
          <p:cNvPr id="25" name="Text 23"/>
          <p:cNvSpPr/>
          <p:nvPr/>
        </p:nvSpPr>
        <p:spPr>
          <a:xfrm>
            <a:off x="2286000" y="2322576"/>
            <a:ext cx="1188720" cy="457200"/>
          </a:xfrm>
          <a:prstGeom prst="rect">
            <a:avLst/>
          </a:prstGeom>
          <a:noFill/>
          <a:ln/>
        </p:spPr>
        <p:txBody>
          <a:bodyPr wrap="square" rtlCol="0" anchor="ctr"/>
          <a:lstStyle/>
          <a:p>
            <a:pPr indent="0" marL="0">
              <a:buNone/>
            </a:pPr>
            <a:r>
              <a:rPr lang="en-US" sz="800" dirty="0">
                <a:solidFill>
                  <a:srgbClr val="8896AB"/>
                </a:solidFill>
                <a:latin typeface="Consolas" pitchFamily="34" charset="0"/>
                <a:ea typeface="Consolas" pitchFamily="34" charset="-122"/>
                <a:cs typeface="Consolas" pitchFamily="34" charset="-120"/>
              </a:rPr>
              <a:t>hdbscan</a:t>
            </a:r>
            <a:endParaRPr lang="en-US" sz="800" dirty="0"/>
          </a:p>
        </p:txBody>
      </p:sp>
      <p:sp>
        <p:nvSpPr>
          <p:cNvPr id="26" name="Text 24"/>
          <p:cNvSpPr/>
          <p:nvPr/>
        </p:nvSpPr>
        <p:spPr>
          <a:xfrm>
            <a:off x="3520440" y="2322576"/>
            <a:ext cx="2194560" cy="457200"/>
          </a:xfrm>
          <a:prstGeom prst="rect">
            <a:avLst/>
          </a:prstGeom>
          <a:noFill/>
          <a:ln/>
        </p:spPr>
        <p:txBody>
          <a:bodyPr wrap="square" rtlCol="0" anchor="ctr"/>
          <a:lstStyle/>
          <a:p>
            <a:pPr indent="0" marL="0">
              <a:buNone/>
            </a:pPr>
            <a:r>
              <a:rPr lang="en-US" sz="900" b="1" dirty="0">
                <a:solidFill>
                  <a:srgbClr val="4ADE80"/>
                </a:solidFill>
                <a:latin typeface="Arial" pitchFamily="34" charset="0"/>
                <a:ea typeface="Arial" pitchFamily="34" charset="-122"/>
                <a:cs typeface="Arial" pitchFamily="34" charset="-120"/>
              </a:rPr>
              <a:t>Eras found unsupervised</a:t>
            </a:r>
            <a:endParaRPr lang="en-US" sz="900" dirty="0"/>
          </a:p>
        </p:txBody>
      </p:sp>
      <p:sp>
        <p:nvSpPr>
          <p:cNvPr id="27" name="Text 25"/>
          <p:cNvSpPr/>
          <p:nvPr/>
        </p:nvSpPr>
        <p:spPr>
          <a:xfrm>
            <a:off x="5760720" y="2322576"/>
            <a:ext cx="3017520" cy="457200"/>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Validation: narrative matches algorithm</a:t>
            </a:r>
            <a:endParaRPr lang="en-US" sz="800" dirty="0"/>
          </a:p>
        </p:txBody>
      </p:sp>
      <p:sp>
        <p:nvSpPr>
          <p:cNvPr id="28" name="Shape 26"/>
          <p:cNvSpPr/>
          <p:nvPr/>
        </p:nvSpPr>
        <p:spPr>
          <a:xfrm>
            <a:off x="274320" y="2852928"/>
            <a:ext cx="8595360" cy="457200"/>
          </a:xfrm>
          <a:prstGeom prst="roundRect">
            <a:avLst>
              <a:gd name="adj" fmla="val 8000"/>
            </a:avLst>
          </a:prstGeom>
          <a:solidFill>
            <a:srgbClr val="151E2D"/>
          </a:solidFill>
          <a:ln/>
        </p:spPr>
      </p:sp>
      <p:sp>
        <p:nvSpPr>
          <p:cNvPr id="29" name="Shape 27"/>
          <p:cNvSpPr/>
          <p:nvPr/>
        </p:nvSpPr>
        <p:spPr>
          <a:xfrm>
            <a:off x="274320" y="2852928"/>
            <a:ext cx="36576" cy="457200"/>
          </a:xfrm>
          <a:prstGeom prst="rect">
            <a:avLst/>
          </a:prstGeom>
          <a:solidFill>
            <a:srgbClr val="22D3EE"/>
          </a:solidFill>
          <a:ln/>
        </p:spPr>
      </p:sp>
      <p:sp>
        <p:nvSpPr>
          <p:cNvPr id="30" name="Text 28"/>
          <p:cNvSpPr/>
          <p:nvPr/>
        </p:nvSpPr>
        <p:spPr>
          <a:xfrm>
            <a:off x="411480" y="2852928"/>
            <a:ext cx="1828800" cy="45720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UMAP</a:t>
            </a:r>
            <a:endParaRPr lang="en-US" sz="900" dirty="0"/>
          </a:p>
        </p:txBody>
      </p:sp>
      <p:sp>
        <p:nvSpPr>
          <p:cNvPr id="31" name="Text 29"/>
          <p:cNvSpPr/>
          <p:nvPr/>
        </p:nvSpPr>
        <p:spPr>
          <a:xfrm>
            <a:off x="2286000" y="2852928"/>
            <a:ext cx="1188720" cy="457200"/>
          </a:xfrm>
          <a:prstGeom prst="rect">
            <a:avLst/>
          </a:prstGeom>
          <a:noFill/>
          <a:ln/>
        </p:spPr>
        <p:txBody>
          <a:bodyPr wrap="square" rtlCol="0" anchor="ctr"/>
          <a:lstStyle/>
          <a:p>
            <a:pPr indent="0" marL="0">
              <a:buNone/>
            </a:pPr>
            <a:r>
              <a:rPr lang="en-US" sz="800" dirty="0">
                <a:solidFill>
                  <a:srgbClr val="8896AB"/>
                </a:solidFill>
                <a:latin typeface="Consolas" pitchFamily="34" charset="0"/>
                <a:ea typeface="Consolas" pitchFamily="34" charset="-122"/>
                <a:cs typeface="Consolas" pitchFamily="34" charset="-120"/>
              </a:rPr>
              <a:t>umap-learn</a:t>
            </a:r>
            <a:endParaRPr lang="en-US" sz="800" dirty="0"/>
          </a:p>
        </p:txBody>
      </p:sp>
      <p:sp>
        <p:nvSpPr>
          <p:cNvPr id="32" name="Text 30"/>
          <p:cNvSpPr/>
          <p:nvPr/>
        </p:nvSpPr>
        <p:spPr>
          <a:xfrm>
            <a:off x="3520440" y="2852928"/>
            <a:ext cx="2194560" cy="457200"/>
          </a:xfrm>
          <a:prstGeom prst="rect">
            <a:avLst/>
          </a:prstGeom>
          <a:noFill/>
          <a:ln/>
        </p:spPr>
        <p:txBody>
          <a:bodyPr wrap="square" rtlCol="0" anchor="ctr"/>
          <a:lstStyle/>
          <a:p>
            <a:pPr indent="0" marL="0">
              <a:buNone/>
            </a:pPr>
            <a:r>
              <a:rPr lang="en-US" sz="900" b="1" dirty="0">
                <a:solidFill>
                  <a:srgbClr val="22D3EE"/>
                </a:solidFill>
                <a:latin typeface="Arial" pitchFamily="34" charset="0"/>
                <a:ea typeface="Arial" pitchFamily="34" charset="-122"/>
                <a:cs typeface="Arial" pitchFamily="34" charset="-120"/>
              </a:rPr>
              <a:t>2D regime map</a:t>
            </a:r>
            <a:endParaRPr lang="en-US" sz="900" dirty="0"/>
          </a:p>
        </p:txBody>
      </p:sp>
      <p:sp>
        <p:nvSpPr>
          <p:cNvPr id="33" name="Text 31"/>
          <p:cNvSpPr/>
          <p:nvPr/>
        </p:nvSpPr>
        <p:spPr>
          <a:xfrm>
            <a:off x="5760720" y="2852928"/>
            <a:ext cx="3017520" cy="457200"/>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Visualisation: the economy's journey</a:t>
            </a:r>
            <a:endParaRPr lang="en-US" sz="800" dirty="0"/>
          </a:p>
        </p:txBody>
      </p:sp>
      <p:sp>
        <p:nvSpPr>
          <p:cNvPr id="34" name="Shape 32"/>
          <p:cNvSpPr/>
          <p:nvPr/>
        </p:nvSpPr>
        <p:spPr>
          <a:xfrm>
            <a:off x="274320" y="3383280"/>
            <a:ext cx="8595360" cy="457200"/>
          </a:xfrm>
          <a:prstGeom prst="roundRect">
            <a:avLst>
              <a:gd name="adj" fmla="val 8000"/>
            </a:avLst>
          </a:prstGeom>
          <a:solidFill>
            <a:srgbClr val="1A2538"/>
          </a:solidFill>
          <a:ln/>
        </p:spPr>
      </p:sp>
      <p:sp>
        <p:nvSpPr>
          <p:cNvPr id="35" name="Shape 33"/>
          <p:cNvSpPr/>
          <p:nvPr/>
        </p:nvSpPr>
        <p:spPr>
          <a:xfrm>
            <a:off x="274320" y="3383280"/>
            <a:ext cx="36576" cy="457200"/>
          </a:xfrm>
          <a:prstGeom prst="rect">
            <a:avLst/>
          </a:prstGeom>
          <a:solidFill>
            <a:srgbClr val="FB923C"/>
          </a:solidFill>
          <a:ln/>
        </p:spPr>
      </p:sp>
      <p:sp>
        <p:nvSpPr>
          <p:cNvPr id="36" name="Text 34"/>
          <p:cNvSpPr/>
          <p:nvPr/>
        </p:nvSpPr>
        <p:spPr>
          <a:xfrm>
            <a:off x="411480" y="3383280"/>
            <a:ext cx="1828800" cy="45720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Cross-Correlation</a:t>
            </a:r>
            <a:endParaRPr lang="en-US" sz="900" dirty="0"/>
          </a:p>
        </p:txBody>
      </p:sp>
      <p:sp>
        <p:nvSpPr>
          <p:cNvPr id="37" name="Text 35"/>
          <p:cNvSpPr/>
          <p:nvPr/>
        </p:nvSpPr>
        <p:spPr>
          <a:xfrm>
            <a:off x="2286000" y="3383280"/>
            <a:ext cx="1188720" cy="457200"/>
          </a:xfrm>
          <a:prstGeom prst="rect">
            <a:avLst/>
          </a:prstGeom>
          <a:noFill/>
          <a:ln/>
        </p:spPr>
        <p:txBody>
          <a:bodyPr wrap="square" rtlCol="0" anchor="ctr"/>
          <a:lstStyle/>
          <a:p>
            <a:pPr indent="0" marL="0">
              <a:buNone/>
            </a:pPr>
            <a:r>
              <a:rPr lang="en-US" sz="800" dirty="0">
                <a:solidFill>
                  <a:srgbClr val="8896AB"/>
                </a:solidFill>
                <a:latin typeface="Consolas" pitchFamily="34" charset="0"/>
                <a:ea typeface="Consolas" pitchFamily="34" charset="-122"/>
                <a:cs typeface="Consolas" pitchFamily="34" charset="-120"/>
              </a:rPr>
              <a:t>scipy</a:t>
            </a:r>
            <a:endParaRPr lang="en-US" sz="800" dirty="0"/>
          </a:p>
        </p:txBody>
      </p:sp>
      <p:sp>
        <p:nvSpPr>
          <p:cNvPr id="38" name="Text 36"/>
          <p:cNvSpPr/>
          <p:nvPr/>
        </p:nvSpPr>
        <p:spPr>
          <a:xfrm>
            <a:off x="3520440" y="3383280"/>
            <a:ext cx="2194560" cy="457200"/>
          </a:xfrm>
          <a:prstGeom prst="rect">
            <a:avLst/>
          </a:prstGeom>
          <a:noFill/>
          <a:ln/>
        </p:spPr>
        <p:txBody>
          <a:bodyPr wrap="square" rtlCol="0" anchor="ctr"/>
          <a:lstStyle/>
          <a:p>
            <a:pPr indent="0" marL="0">
              <a:buNone/>
            </a:pPr>
            <a:r>
              <a:rPr lang="en-US" sz="900" b="1" dirty="0">
                <a:solidFill>
                  <a:srgbClr val="FB923C"/>
                </a:solidFill>
                <a:latin typeface="Arial" pitchFamily="34" charset="0"/>
                <a:ea typeface="Arial" pitchFamily="34" charset="-122"/>
                <a:cs typeface="Arial" pitchFamily="34" charset="-120"/>
              </a:rPr>
              <a:t>Transport coincident</a:t>
            </a:r>
            <a:endParaRPr lang="en-US" sz="900" dirty="0"/>
          </a:p>
        </p:txBody>
      </p:sp>
      <p:sp>
        <p:nvSpPr>
          <p:cNvPr id="39" name="Text 37"/>
          <p:cNvSpPr/>
          <p:nvPr/>
        </p:nvSpPr>
        <p:spPr>
          <a:xfrm>
            <a:off x="5760720" y="3383280"/>
            <a:ext cx="3017520" cy="457200"/>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Explanation: why oil spikes hit instantly</a:t>
            </a:r>
            <a:endParaRPr lang="en-US" sz="800" dirty="0"/>
          </a:p>
        </p:txBody>
      </p:sp>
      <p:sp>
        <p:nvSpPr>
          <p:cNvPr id="40" name="Shape 38"/>
          <p:cNvSpPr/>
          <p:nvPr/>
        </p:nvSpPr>
        <p:spPr>
          <a:xfrm>
            <a:off x="274320" y="3913632"/>
            <a:ext cx="8595360" cy="457200"/>
          </a:xfrm>
          <a:prstGeom prst="roundRect">
            <a:avLst>
              <a:gd name="adj" fmla="val 8000"/>
            </a:avLst>
          </a:prstGeom>
          <a:solidFill>
            <a:srgbClr val="151E2D"/>
          </a:solidFill>
          <a:ln/>
        </p:spPr>
      </p:sp>
      <p:sp>
        <p:nvSpPr>
          <p:cNvPr id="41" name="Shape 39"/>
          <p:cNvSpPr/>
          <p:nvPr/>
        </p:nvSpPr>
        <p:spPr>
          <a:xfrm>
            <a:off x="274320" y="3913632"/>
            <a:ext cx="36576" cy="457200"/>
          </a:xfrm>
          <a:prstGeom prst="rect">
            <a:avLst/>
          </a:prstGeom>
          <a:solidFill>
            <a:srgbClr val="F87171"/>
          </a:solidFill>
          <a:ln/>
        </p:spPr>
      </p:sp>
      <p:sp>
        <p:nvSpPr>
          <p:cNvPr id="42" name="Text 40"/>
          <p:cNvSpPr/>
          <p:nvPr/>
        </p:nvSpPr>
        <p:spPr>
          <a:xfrm>
            <a:off x="411480" y="3913632"/>
            <a:ext cx="1828800" cy="45720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CUSUM</a:t>
            </a:r>
            <a:endParaRPr lang="en-US" sz="900" dirty="0"/>
          </a:p>
        </p:txBody>
      </p:sp>
      <p:sp>
        <p:nvSpPr>
          <p:cNvPr id="43" name="Text 41"/>
          <p:cNvSpPr/>
          <p:nvPr/>
        </p:nvSpPr>
        <p:spPr>
          <a:xfrm>
            <a:off x="2286000" y="3913632"/>
            <a:ext cx="1188720" cy="457200"/>
          </a:xfrm>
          <a:prstGeom prst="rect">
            <a:avLst/>
          </a:prstGeom>
          <a:noFill/>
          <a:ln/>
        </p:spPr>
        <p:txBody>
          <a:bodyPr wrap="square" rtlCol="0" anchor="ctr"/>
          <a:lstStyle/>
          <a:p>
            <a:pPr indent="0" marL="0">
              <a:buNone/>
            </a:pPr>
            <a:r>
              <a:rPr lang="en-US" sz="800" dirty="0">
                <a:solidFill>
                  <a:srgbClr val="8896AB"/>
                </a:solidFill>
                <a:latin typeface="Consolas" pitchFamily="34" charset="0"/>
                <a:ea typeface="Consolas" pitchFamily="34" charset="-122"/>
                <a:cs typeface="Consolas" pitchFamily="34" charset="-120"/>
              </a:rPr>
              <a:t>numpy</a:t>
            </a:r>
            <a:endParaRPr lang="en-US" sz="800" dirty="0"/>
          </a:p>
        </p:txBody>
      </p:sp>
      <p:sp>
        <p:nvSpPr>
          <p:cNvPr id="44" name="Text 42"/>
          <p:cNvSpPr/>
          <p:nvPr/>
        </p:nvSpPr>
        <p:spPr>
          <a:xfrm>
            <a:off x="3520440" y="3913632"/>
            <a:ext cx="2194560" cy="457200"/>
          </a:xfrm>
          <a:prstGeom prst="rect">
            <a:avLst/>
          </a:prstGeom>
          <a:noFill/>
          <a:ln/>
        </p:spPr>
        <p:txBody>
          <a:bodyPr wrap="square" rtlCol="0" anchor="ctr"/>
          <a:lstStyle/>
          <a:p>
            <a:pPr indent="0" marL="0">
              <a:buNone/>
            </a:pPr>
            <a:r>
              <a:rPr lang="en-US" sz="900" b="1" dirty="0">
                <a:solidFill>
                  <a:srgbClr val="F87171"/>
                </a:solidFill>
                <a:latin typeface="Arial" pitchFamily="34" charset="0"/>
                <a:ea typeface="Arial" pitchFamily="34" charset="-122"/>
                <a:cs typeface="Arial" pitchFamily="34" charset="-120"/>
              </a:rPr>
              <a:t>Break points at 2018/2019/2022</a:t>
            </a:r>
            <a:endParaRPr lang="en-US" sz="900" dirty="0"/>
          </a:p>
        </p:txBody>
      </p:sp>
      <p:sp>
        <p:nvSpPr>
          <p:cNvPr id="45" name="Text 43"/>
          <p:cNvSpPr/>
          <p:nvPr/>
        </p:nvSpPr>
        <p:spPr>
          <a:xfrm>
            <a:off x="5760720" y="3913632"/>
            <a:ext cx="3017520" cy="457200"/>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Timeline: when exactly regimes shifted</a:t>
            </a:r>
            <a:endParaRPr lang="en-US" sz="800" dirty="0"/>
          </a:p>
        </p:txBody>
      </p:sp>
      <p:sp>
        <p:nvSpPr>
          <p:cNvPr id="46" name="Shape 44"/>
          <p:cNvSpPr/>
          <p:nvPr/>
        </p:nvSpPr>
        <p:spPr>
          <a:xfrm>
            <a:off x="274320" y="4443984"/>
            <a:ext cx="8595360" cy="457200"/>
          </a:xfrm>
          <a:prstGeom prst="roundRect">
            <a:avLst>
              <a:gd name="adj" fmla="val 8000"/>
            </a:avLst>
          </a:prstGeom>
          <a:solidFill>
            <a:srgbClr val="1A2538"/>
          </a:solidFill>
          <a:ln/>
        </p:spPr>
      </p:sp>
      <p:sp>
        <p:nvSpPr>
          <p:cNvPr id="47" name="Shape 45"/>
          <p:cNvSpPr/>
          <p:nvPr/>
        </p:nvSpPr>
        <p:spPr>
          <a:xfrm>
            <a:off x="274320" y="4443984"/>
            <a:ext cx="36576" cy="457200"/>
          </a:xfrm>
          <a:prstGeom prst="rect">
            <a:avLst/>
          </a:prstGeom>
          <a:solidFill>
            <a:srgbClr val="FBBF24"/>
          </a:solidFill>
          <a:ln/>
        </p:spPr>
      </p:sp>
      <p:sp>
        <p:nvSpPr>
          <p:cNvPr id="48" name="Text 46"/>
          <p:cNvSpPr/>
          <p:nvPr/>
        </p:nvSpPr>
        <p:spPr>
          <a:xfrm>
            <a:off x="411480" y="4443984"/>
            <a:ext cx="1828800" cy="45720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Z-Score Profiling</a:t>
            </a:r>
            <a:endParaRPr lang="en-US" sz="900" dirty="0"/>
          </a:p>
        </p:txBody>
      </p:sp>
      <p:sp>
        <p:nvSpPr>
          <p:cNvPr id="49" name="Text 47"/>
          <p:cNvSpPr/>
          <p:nvPr/>
        </p:nvSpPr>
        <p:spPr>
          <a:xfrm>
            <a:off x="2286000" y="4443984"/>
            <a:ext cx="1188720" cy="457200"/>
          </a:xfrm>
          <a:prstGeom prst="rect">
            <a:avLst/>
          </a:prstGeom>
          <a:noFill/>
          <a:ln/>
        </p:spPr>
        <p:txBody>
          <a:bodyPr wrap="square" rtlCol="0" anchor="ctr"/>
          <a:lstStyle/>
          <a:p>
            <a:pPr indent="0" marL="0">
              <a:buNone/>
            </a:pPr>
            <a:r>
              <a:rPr lang="en-US" sz="800" dirty="0">
                <a:solidFill>
                  <a:srgbClr val="8896AB"/>
                </a:solidFill>
                <a:latin typeface="Consolas" pitchFamily="34" charset="0"/>
                <a:ea typeface="Consolas" pitchFamily="34" charset="-122"/>
                <a:cs typeface="Consolas" pitchFamily="34" charset="-120"/>
              </a:rPr>
              <a:t>sklearn</a:t>
            </a:r>
            <a:endParaRPr lang="en-US" sz="800" dirty="0"/>
          </a:p>
        </p:txBody>
      </p:sp>
      <p:sp>
        <p:nvSpPr>
          <p:cNvPr id="50" name="Text 48"/>
          <p:cNvSpPr/>
          <p:nvPr/>
        </p:nvSpPr>
        <p:spPr>
          <a:xfrm>
            <a:off x="3520440" y="4443984"/>
            <a:ext cx="2194560" cy="45720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All sectors normal in 2025</a:t>
            </a:r>
            <a:endParaRPr lang="en-US" sz="900" dirty="0"/>
          </a:p>
        </p:txBody>
      </p:sp>
      <p:sp>
        <p:nvSpPr>
          <p:cNvPr id="51" name="Text 49"/>
          <p:cNvSpPr/>
          <p:nvPr/>
        </p:nvSpPr>
        <p:spPr>
          <a:xfrm>
            <a:off x="5760720" y="4443984"/>
            <a:ext cx="3017520" cy="457200"/>
          </a:xfrm>
          <a:prstGeom prst="rect">
            <a:avLst/>
          </a:prstGeom>
          <a:noFill/>
          <a:ln/>
        </p:spPr>
        <p:txBody>
          <a:bodyPr wrap="square" rtlCol="0" anchor="ctr"/>
          <a:lstStyle/>
          <a:p>
            <a:pPr indent="0" marL="0">
              <a:buNone/>
            </a:pPr>
            <a:r>
              <a:rPr lang="en-US" sz="800" dirty="0">
                <a:solidFill>
                  <a:srgbClr val="8896AB"/>
                </a:solidFill>
                <a:latin typeface="Arial" pitchFamily="34" charset="0"/>
                <a:ea typeface="Arial" pitchFamily="34" charset="-122"/>
                <a:cs typeface="Arial" pitchFamily="34" charset="-120"/>
              </a:rPr>
              <a:t>Conclusion: two-speed is the new normal</a:t>
            </a:r>
            <a:endParaRPr lang="en-US" sz="800" dirty="0"/>
          </a:p>
        </p:txBody>
      </p:sp>
      <p:sp>
        <p:nvSpPr>
          <p:cNvPr id="52" name="Shape 50"/>
          <p:cNvSpPr/>
          <p:nvPr/>
        </p:nvSpPr>
        <p:spPr>
          <a:xfrm>
            <a:off x="274320" y="4617720"/>
            <a:ext cx="8595360" cy="411480"/>
          </a:xfrm>
          <a:prstGeom prst="roundRect">
            <a:avLst>
              <a:gd name="adj" fmla="val 8889"/>
            </a:avLst>
          </a:prstGeom>
          <a:solidFill>
            <a:srgbClr val="0D1F2D"/>
          </a:solidFill>
          <a:ln/>
        </p:spPr>
      </p:sp>
      <p:sp>
        <p:nvSpPr>
          <p:cNvPr id="53" name="Text 51"/>
          <p:cNvSpPr/>
          <p:nvPr/>
        </p:nvSpPr>
        <p:spPr>
          <a:xfrm>
            <a:off x="457200" y="4645152"/>
            <a:ext cx="8229600" cy="365760"/>
          </a:xfrm>
          <a:prstGeom prst="rect">
            <a:avLst/>
          </a:prstGeom>
          <a:noFill/>
          <a:ln/>
        </p:spPr>
        <p:txBody>
          <a:bodyPr wrap="square" rtlCol="0" anchor="ctr"/>
          <a:lstStyle/>
          <a:p>
            <a:pPr indent="0" marL="0">
              <a:buNone/>
            </a:pPr>
            <a:r>
              <a:rPr lang="en-US" sz="900" b="1" dirty="0">
                <a:solidFill>
                  <a:srgbClr val="FBBF24"/>
                </a:solidFill>
                <a:latin typeface="Arial" pitchFamily="34" charset="0"/>
                <a:ea typeface="Arial" pitchFamily="34" charset="-122"/>
                <a:cs typeface="Arial" pitchFamily="34" charset="-120"/>
              </a:rPr>
              <a:t>Three independent methods (HDBSCAN + CUSUM + narrative) converge on the same economic eras → our findings are robust and reproducible</a:t>
            </a:r>
            <a:endParaRPr lang="en-US" sz="900" dirty="0"/>
          </a:p>
        </p:txBody>
      </p:sp>
      <p:sp>
        <p:nvSpPr>
          <p:cNvPr id="54" name="Text 52"/>
          <p:cNvSpPr/>
          <p:nvPr/>
        </p:nvSpPr>
        <p:spPr>
          <a:xfrm>
            <a:off x="8321040" y="4892040"/>
            <a:ext cx="640080" cy="182880"/>
          </a:xfrm>
          <a:prstGeom prst="rect">
            <a:avLst/>
          </a:prstGeom>
          <a:noFill/>
          <a:ln/>
        </p:spPr>
        <p:txBody>
          <a:bodyPr wrap="square" rtlCol="0" anchor="ctr"/>
          <a:lstStyle/>
          <a:p>
            <a:pPr algn="r" indent="0" marL="0">
              <a:buNone/>
            </a:pPr>
            <a:r>
              <a:rPr lang="en-US" sz="800" dirty="0">
                <a:solidFill>
                  <a:srgbClr val="8896AB"/>
                </a:solidFill>
                <a:latin typeface="Arial" pitchFamily="34" charset="0"/>
                <a:ea typeface="Arial" pitchFamily="34" charset="-122"/>
                <a:cs typeface="Arial" pitchFamily="34" charset="-120"/>
              </a:rPr>
              <a:t>10 / 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UAE CPI — Data Science Methods Deep Dive</dc:title>
  <dc:subject>PptxGenJS Presentation</dc:subject>
  <dc:creator>PptxGenJS</dc:creator>
  <cp:lastModifiedBy>PptxGenJS</cp:lastModifiedBy>
  <cp:revision>1</cp:revision>
  <dcterms:created xsi:type="dcterms:W3CDTF">2026-03-12T13:08:19Z</dcterms:created>
  <dcterms:modified xsi:type="dcterms:W3CDTF">2026-03-12T13:08:19Z</dcterms:modified>
</cp:coreProperties>
</file>