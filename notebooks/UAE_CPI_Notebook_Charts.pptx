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Jupyter Notebook Outputs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Charts from Python Statistical Analysis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CPI • 2014–2025 • 14 Sectors • 8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CPI Overview &amp; Annual Inflation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3108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STL Decomposition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Structural Breaks &amp; Volatility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CUSUM Change Points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Sector Cross-Correlation Matrix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UMAP + HDBSCAN Clusters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Sector Volatility Analysis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4206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Cross-Correlation Lags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Sector Inflation Heatmap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4572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Cumulative Price Evolution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— CPI Overview &amp; Annual Inflation Rate</a:t>
            </a:r>
            <a:endParaRPr lang="en-US" sz="1600" dirty="0"/>
          </a:p>
        </p:txBody>
      </p:sp>
      <p:pic>
        <p:nvPicPr>
          <p:cNvPr id="3" name="Image 0" descr="/mnt/user-data/uploads/01_cpi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6217920" cy="3840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92240" y="502920"/>
            <a:ext cx="2514600" cy="3840480"/>
          </a:xfrm>
          <a:prstGeom prst="roundRect">
            <a:avLst>
              <a:gd name="adj" fmla="val 2182"/>
            </a:avLst>
          </a:prstGeom>
          <a:solidFill>
            <a:srgbClr val="151E2D"/>
          </a:solidFill>
          <a:ln/>
        </p:spPr>
      </p:sp>
      <p:sp>
        <p:nvSpPr>
          <p:cNvPr id="5" name="Text 2"/>
          <p:cNvSpPr/>
          <p:nvPr/>
        </p:nvSpPr>
        <p:spPr>
          <a:xfrm>
            <a:off x="6583680" y="548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0" y="86868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chart: CPI Index (2014=100)
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the price level trajectory. VAT shock in Jan 2018 is the sharpest jump. Post-2018 decline into deflation clearly visible.
</a:t>
            </a:r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chart: Annual Inflation %
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= inflation, green = deflation. Four eras visible: 2015 boom (~5%), 2018 VAT spike (4.75%), 24-month deflation block (2019-20), and 2022 oil shock peak followed by normalisation.
</a:t>
            </a:r>
            <a:pPr indent="0" marL="0">
              <a:buNone/>
            </a:pPr>
            <a:r>
              <a:rPr lang="en-US" sz="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shaded area marks the 24-month deflation era — unprecedented in the GCC.
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pivot + matplotlib bar chart
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2014-base index (top), 2014+2021-base annual change (bottom), 2022 reconstructed from index levels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83680" y="4069080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in: PPT Slide 2 (Problem), Dashboard Tab 1 (Overview)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— STL Decomposition</a:t>
            </a:r>
            <a:endParaRPr lang="en-US" sz="1600" dirty="0"/>
          </a:p>
        </p:txBody>
      </p:sp>
      <p:pic>
        <p:nvPicPr>
          <p:cNvPr id="3" name="Image 0" descr="/mnt/user-data/uploads/02_stl_de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6217920" cy="3840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92240" y="502920"/>
            <a:ext cx="2514600" cy="3840480"/>
          </a:xfrm>
          <a:prstGeom prst="roundRect">
            <a:avLst>
              <a:gd name="adj" fmla="val 2182"/>
            </a:avLst>
          </a:prstGeom>
          <a:solidFill>
            <a:srgbClr val="151E2D"/>
          </a:solidFill>
          <a:ln/>
        </p:spPr>
      </p:sp>
      <p:sp>
        <p:nvSpPr>
          <p:cNvPr id="5" name="Text 2"/>
          <p:cNvSpPr/>
          <p:nvPr/>
        </p:nvSpPr>
        <p:spPr>
          <a:xfrm>
            <a:off x="6583680" y="548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0" y="86868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panels (top to bottom):
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Observed: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CPI index — same as Chart 01 top
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Trend: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underlying direction. Rise to 2018, then decline. Captures 85.8% of all variance.
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Seasonal: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Repeating annual pattern. Amplitude ±0.7 index pts — TINY. Only 0.5% of variance. Ramadan/summer barely matter.
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Residual: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Unexplained shocks. The Jan 2018 VAT spike (peak ~3.1) is the largest residual — a genuine one-off shock.
</a:t>
            </a:r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UAE CPI is structurally driven, not seasonal. Focus on housing, oil, policy — not calendar.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— Structural Breaks &amp; Rolling Volatility</a:t>
            </a:r>
            <a:endParaRPr lang="en-US" sz="1600" dirty="0"/>
          </a:p>
        </p:txBody>
      </p:sp>
      <p:pic>
        <p:nvPicPr>
          <p:cNvPr id="3" name="Image 0" descr="/mnt/user-data/uploads/03_structural_brea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6217920" cy="3840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92240" y="502920"/>
            <a:ext cx="2514600" cy="3840480"/>
          </a:xfrm>
          <a:prstGeom prst="roundRect">
            <a:avLst>
              <a:gd name="adj" fmla="val 2182"/>
            </a:avLst>
          </a:prstGeom>
          <a:solidFill>
            <a:srgbClr val="151E2D"/>
          </a:solidFill>
          <a:ln/>
        </p:spPr>
      </p:sp>
      <p:sp>
        <p:nvSpPr>
          <p:cNvPr id="5" name="Text 2"/>
          <p:cNvSpPr/>
          <p:nvPr/>
        </p:nvSpPr>
        <p:spPr>
          <a:xfrm>
            <a:off x="6583680" y="548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0" y="86868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Top: Rolling mean ± 2σ bands
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Cyan line = 12-month rolling average. Teal band = ±2 standard deviations. Yellow dashed lines mark regime boundaries: Housing Boom, VAT, Deflation Onset, Post-COVID Recovery.
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the line breaks outside the band = regime change. The 2018→2019 collapse is the most dramatic: from +4% to −2% in 12 months.
</a:t>
            </a:r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Bottom: Rolling 12-month volatility
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VAT period (2018) shows peak uncertainty at 2.6% std dev. The 2022 oil shock created a second volatility spike. Current 2025 volatility is LOW (~0.5%) = stable two-speed economy.
</a:t>
            </a:r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spikes at regime transitions, then settles. 2025 is the most stable period since 2017.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— CUSUM Change Point Detection</a:t>
            </a:r>
            <a:endParaRPr lang="en-US" sz="1600" dirty="0"/>
          </a:p>
        </p:txBody>
      </p:sp>
      <p:pic>
        <p:nvPicPr>
          <p:cNvPr id="3" name="Image 0" descr="/mnt/user-data/uploads/04_cusu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621792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92240" y="502920"/>
            <a:ext cx="2514600" cy="3840480"/>
          </a:xfrm>
          <a:prstGeom prst="roundRect">
            <a:avLst>
              <a:gd name="adj" fmla="val 2182"/>
            </a:avLst>
          </a:prstGeom>
          <a:solidFill>
            <a:srgbClr val="151E2D"/>
          </a:solidFill>
          <a:ln/>
        </p:spPr>
      </p:sp>
      <p:sp>
        <p:nvSpPr>
          <p:cNvPr id="5" name="Text 2"/>
          <p:cNvSpPr/>
          <p:nvPr/>
        </p:nvSpPr>
        <p:spPr>
          <a:xfrm>
            <a:off x="6583680" y="548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583680" y="868680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CUSUM:
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= sustained above-average inflation
Falling = sustained below-average inflation
Sharp kinks = regime change points
</a:t>
            </a:r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story in one curve:
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2014→2018: Steep rise. UAE inflating above its long-run average for 4 years straight.
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2018→2019: Sharp reversal. Peak at ~82, then plummets. The VAT shock followed by deflation onset.
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2019→2021: Continued fall into negative territory. 24 months of below-average inflation.
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2022→2025: Brief recovery (oil shock) then returns to ~0. The economy is now at its long-run average.
</a:t>
            </a:r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CUSUM returning to zero in 2025 means the cumulative over/under-inflation has netted out over the decade.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 — Sector Cross-Correlation Matrix</a:t>
            </a:r>
            <a:endParaRPr lang="en-US" sz="1600" dirty="0"/>
          </a:p>
        </p:txBody>
      </p:sp>
      <p:pic>
        <p:nvPicPr>
          <p:cNvPr id="3" name="Image 0" descr="/mnt/user-data/uploads/05_sector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02920"/>
            <a:ext cx="5303520" cy="3840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760720" y="502920"/>
            <a:ext cx="3246120" cy="3840480"/>
          </a:xfrm>
          <a:prstGeom prst="roundRect">
            <a:avLst>
              <a:gd name="adj" fmla="val 1690"/>
            </a:avLst>
          </a:prstGeom>
          <a:solidFill>
            <a:srgbClr val="151E2D"/>
          </a:solidFill>
          <a:ln/>
        </p:spPr>
      </p:sp>
      <p:sp>
        <p:nvSpPr>
          <p:cNvPr id="5" name="Text 2"/>
          <p:cNvSpPr/>
          <p:nvPr/>
        </p:nvSpPr>
        <p:spPr>
          <a:xfrm>
            <a:off x="5852160" y="548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852160" y="868680"/>
            <a:ext cx="3063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shows: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 Pearson correlation between every sector pair. Red = positive (move together), blue = negative (move opposite).
</a:t>
            </a:r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correlations with All Items:
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Education: 0.84 (school fees track overall CPI)
• Housing: 0.74 (dominant weight)
• Transport: 0.67 (oil channel)
• Furniture: 0.60 (import-sensitive)
</a:t>
            </a:r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Notable negative correlations:
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Medical ↔ Communications: −0.57 (opposite dynamics)
• Recreation ↔ Food: −0.55 (discretionary vs essential)
</a:t>
            </a:r>
            <a:pPr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 ↔ Communications: −0.28
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move in opposite directions — when housing inflates, communications deflates. The two-speed economy in one number.
</a:t>
            </a:r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seaborn heatmap on pandas .corr() matrix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DE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 — UMAP Projection + HDBSCAN Clusters</a:t>
            </a:r>
            <a:endParaRPr lang="en-US" sz="1600" dirty="0"/>
          </a:p>
        </p:txBody>
      </p:sp>
      <p:pic>
        <p:nvPicPr>
          <p:cNvPr id="3" name="Image 0" descr="/mnt/user-data/uploads/06_umap_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68580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3794760"/>
            <a:ext cx="8595360" cy="1143000"/>
          </a:xfrm>
          <a:prstGeom prst="roundRect">
            <a:avLst>
              <a:gd name="adj" fmla="val 4800"/>
            </a:avLst>
          </a:prstGeom>
          <a:solidFill>
            <a:srgbClr val="151E2D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38404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65760" y="406908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panel: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Coloured by HDBSCAN cluster. 4 distinct clusters + noise (grey). Each cluster = an economic regime discovered purely from 13 sector inflation profiles, with zero human guidance. </a:t>
            </a:r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panel: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points coloured by year. You can see the economy travel through time: 2014-2017 (top right), 2018-2019 (bottom centre), 2020 (isolated left). The path through UMAP space IS the inflation story. </a:t>
            </a:r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2020 deflation cluster (yellow, far left) is physically isolated from all other regimes — proving the deflation era was structurally unique, not just a mild slowdown.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 — Sector Volatility: Range &amp; Mean vs Std Dev</a:t>
            </a:r>
            <a:endParaRPr lang="en-US" sz="1600" dirty="0"/>
          </a:p>
        </p:txBody>
      </p:sp>
      <p:pic>
        <p:nvPicPr>
          <p:cNvPr id="3" name="Image 0" descr="/mnt/user-data/uploads/07_sector_volat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68580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3794760"/>
            <a:ext cx="8595360" cy="1143000"/>
          </a:xfrm>
          <a:prstGeom prst="roundRect">
            <a:avLst>
              <a:gd name="adj" fmla="val 4800"/>
            </a:avLst>
          </a:prstGeom>
          <a:solidFill>
            <a:srgbClr val="151E2D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Inflation range (max minus min) per sector. Tobacco: 88pp range (excise tax). Recreation: 58pp (COVID swing). Transport: 29pp (oil). Education: just 5pp (regulated fees). </a:t>
            </a:r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inflation (x-axis) vs volatility/std (y-axis). Bubble size = range. Tobacco is the extreme outlier (high mean, high volatility, huge range). Housing sits at moderate mean with moderate volatility — but its 35% WEIGHT makes it the most impactful. </a:t>
            </a:r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= weight × volatility. Transport is volatile but only 13% weight. Housing is less volatile but 35% weight. Housing wins.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 — Cross-Correlation Lag Analysis (6 Key Sectors)</a:t>
            </a:r>
            <a:endParaRPr lang="en-US" sz="1600" dirty="0"/>
          </a:p>
        </p:txBody>
      </p:sp>
      <p:pic>
        <p:nvPicPr>
          <p:cNvPr id="3" name="Image 0" descr="/mnt/user-data/uploads/08_cross_correlation_la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68580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3794760"/>
            <a:ext cx="8595360" cy="1143000"/>
          </a:xfrm>
          <a:prstGeom prst="roundRect">
            <a:avLst>
              <a:gd name="adj" fmla="val 4800"/>
            </a:avLst>
          </a:prstGeom>
          <a:solidFill>
            <a:srgbClr val="151E2D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subplot shows correlation between that sector and All Items at different monthly lags. Peak position = lead/lag timing. Yellow dashed = best lag. </a:t>
            </a:r>
            <a:pPr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 (best lag: −3m):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positive correlation, peaks slightly before headline — a leading indicator. </a:t>
            </a:r>
            <a:pPr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(0m) &amp; Transport (0m):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Coincident — they move simultaneously with headline CPI. Oil/food shocks transmit instantly. </a:t>
            </a:r>
            <a:pPr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Restaurants (−12m) &amp; Textiles (−9m):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lagging sectors — they respond months after headline moves. Useful for confirming trends, not predicting them.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 — Sector Inflation Heatmap (2021–2025)</a:t>
            </a:r>
            <a:endParaRPr lang="en-US" sz="1600" dirty="0"/>
          </a:p>
        </p:txBody>
      </p:sp>
      <p:pic>
        <p:nvPicPr>
          <p:cNvPr id="3" name="Image 0" descr="/mnt/user-data/uploads/09_secto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68580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3794760"/>
            <a:ext cx="8595360" cy="1143000"/>
          </a:xfrm>
          <a:prstGeom prst="roundRect">
            <a:avLst>
              <a:gd name="adj" fmla="val 4800"/>
            </a:avLst>
          </a:prstGeom>
          <a:solidFill>
            <a:srgbClr val="151E2D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cell = one sector, one month. Red = high inflation, green = deflation, yellow = moderate. </a:t>
            </a:r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patterns visible: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(1) Transport's red band in mid-2022 (oil shock at +42%) then green band in 2023 (base effect collapse). (2) Housing turns from green (2021) to steady yellow-orange (2023-2025) — the slow structural shift. (3) Recreation's extreme red patch (2021-22) = Expo 2020 + COVID base effect. (4) Textiles going progressively greener through 2025 = strengthening dollar peg deflation. (5) Tobacco's white band (2021-base) = below 100 on the index, meaning prices FELL below 2021 levels despite excise tax.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— Cumulative Price Evolution by Sector (2021=100)</a:t>
            </a:r>
            <a:endParaRPr lang="en-US" sz="1600" dirty="0"/>
          </a:p>
        </p:txBody>
      </p:sp>
      <p:pic>
        <p:nvPicPr>
          <p:cNvPr id="3" name="Image 0" descr="/mnt/user-data/uploads/10_cumulative_secto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02920"/>
            <a:ext cx="68580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74320" y="3794760"/>
            <a:ext cx="8595360" cy="1143000"/>
          </a:xfrm>
          <a:prstGeom prst="roundRect">
            <a:avLst>
              <a:gd name="adj" fmla="val 4800"/>
            </a:avLst>
          </a:prstGeom>
          <a:solidFill>
            <a:srgbClr val="151E2D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line = one sector's price level since 2021. Dashed cyan = All Items. </a:t>
            </a:r>
            <a:pPr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Winners since 2021: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Recreation (+25%), Restaurants (+18%), Food (+15%), Housing (+12%). </a:t>
            </a:r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Losers: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Tobacco (below 100 = cheaper than 2021), Textiles (barely above 100). </a:t>
            </a:r>
            <a:pPr indent="0" marL="0">
              <a:buNone/>
            </a:pPr>
            <a:r>
              <a:rPr lang="en-US" sz="8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(green):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most volatile line — spiked to 145 in mid-2022 (oil at $122), then crashed back to 110. This single line explains the Jul 2023 “−20%” headline. </a:t>
            </a:r>
            <a:pPr indent="0" marL="0">
              <a:buNone/>
            </a:pPr>
            <a:r>
              <a:rPr lang="en-US" sz="8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two-speed economy: </a:t>
            </a:r>
            <a:pPr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Non-tradeables (red/orange lines, top half) diverging from tradeables (grey/green, bottom half). Gap widens through 2025.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321040" y="489204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UAE CPI — Notebook Chart Outputs &amp; Insights</dc:title>
  <dc:subject>PptxGenJS Presentation</dc:subject>
  <dc:creator>PptxGenJS</dc:creator>
  <cp:lastModifiedBy>PptxGenJS</cp:lastModifiedBy>
  <cp:revision>1</cp:revision>
  <dcterms:created xsi:type="dcterms:W3CDTF">2026-03-12T14:30:52Z</dcterms:created>
  <dcterms:modified xsi:type="dcterms:W3CDTF">2026-03-12T14:30:52Z</dcterms:modified>
</cp:coreProperties>
</file>